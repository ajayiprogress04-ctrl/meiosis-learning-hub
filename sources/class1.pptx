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0" r:id="rId2"/>
  </p:sldMasterIdLst>
  <p:notesMasterIdLst>
    <p:notesMasterId r:id="rId18"/>
  </p:notesMasterIdLst>
  <p:sldIdLst>
    <p:sldId id="257" r:id="rId3"/>
    <p:sldId id="428" r:id="rId4"/>
    <p:sldId id="429" r:id="rId5"/>
    <p:sldId id="1010" r:id="rId6"/>
    <p:sldId id="1017" r:id="rId7"/>
    <p:sldId id="1011" r:id="rId8"/>
    <p:sldId id="1012" r:id="rId9"/>
    <p:sldId id="1018" r:id="rId10"/>
    <p:sldId id="1013" r:id="rId11"/>
    <p:sldId id="1019" r:id="rId12"/>
    <p:sldId id="1014" r:id="rId13"/>
    <p:sldId id="1015" r:id="rId14"/>
    <p:sldId id="1021" r:id="rId15"/>
    <p:sldId id="1016" r:id="rId16"/>
    <p:sldId id="1009" r:id="rId17"/>
  </p:sldIdLst>
  <p:sldSz cx="12192000" cy="6858000"/>
  <p:notesSz cx="6858000" cy="9144000"/>
  <p:embeddedFontLst>
    <p:embeddedFont>
      <p:font typeface="ADLaM Display" panose="02010000000000000000" pitchFamily="2" charset="0"/>
      <p:regular r:id="rId19"/>
    </p:embeddedFont>
    <p:embeddedFont>
      <p:font typeface="Aptos ExtraBold" panose="020B0004020202020204" pitchFamily="34" charset="0"/>
      <p:bold r:id="rId20"/>
      <p:boldItalic r:id="rId21"/>
    </p:embeddedFont>
    <p:embeddedFont>
      <p:font typeface="Arial Narrow" panose="020B0606020202030204" pitchFamily="34" charset="0"/>
      <p:regular r:id="rId22"/>
      <p:bold r:id="rId23"/>
      <p:italic r:id="rId24"/>
      <p:boldItalic r:id="rId25"/>
    </p:embeddedFont>
    <p:embeddedFont>
      <p:font typeface="Bahnschrift Condensed" panose="020B0502040204020203" pitchFamily="34" charset="0"/>
      <p:regular r:id="rId26"/>
      <p:bold r:id="rId27"/>
    </p:embeddedFont>
    <p:embeddedFont>
      <p:font typeface="Calibri" panose="020F0502020204030204" pitchFamily="34" charset="0"/>
      <p:regular r:id="rId28"/>
      <p:bold r:id="rId29"/>
      <p:italic r:id="rId30"/>
      <p:boldItalic r:id="rId31"/>
    </p:embeddedFont>
    <p:embeddedFont>
      <p:font typeface="Garamond" panose="02020404030301010803" pitchFamily="18" charset="0"/>
      <p:regular r:id="rId32"/>
      <p:bold r:id="rId33"/>
      <p:italic r:id="rId34"/>
    </p:embeddedFont>
    <p:embeddedFont>
      <p:font typeface="Tw Cen MT" panose="020B0602020104020603" pitchFamily="34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12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86" roundtripDataSignature="AMtx7mjA10f30RqLoabvBKbEVDEwMx6H8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00CC"/>
    <a:srgbClr val="01000B"/>
    <a:srgbClr val="3A3C3C"/>
    <a:srgbClr val="262626"/>
    <a:srgbClr val="6BAB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002" autoAdjust="0"/>
    <p:restoredTop sz="92647" autoAdjust="0"/>
  </p:normalViewPr>
  <p:slideViewPr>
    <p:cSldViewPr snapToGrid="0">
      <p:cViewPr varScale="1">
        <p:scale>
          <a:sx n="64" d="100"/>
          <a:sy n="64" d="100"/>
        </p:scale>
        <p:origin x="716" y="32"/>
      </p:cViewPr>
      <p:guideLst>
        <p:guide orient="horz" pos="211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89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font" Target="fonts/font19.fntdata"/><Relationship Id="rId87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font" Target="fonts/font18.fntdata"/><Relationship Id="rId90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86" Type="http://customschemas.google.com/relationships/presentationmetadata" Target="meta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font" Target="fonts/font17.fntdata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font" Target="fonts/font2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3" name="Google Shape;63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291735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43264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227002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274431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89063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98268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2955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879962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198821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687998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431704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74684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443767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999727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9"/>
          <p:cNvSpPr txBox="1">
            <a:spLocks noGrp="1"/>
          </p:cNvSpPr>
          <p:nvPr>
            <p:ph type="title"/>
          </p:nvPr>
        </p:nvSpPr>
        <p:spPr>
          <a:xfrm>
            <a:off x="-125691" y="4431694"/>
            <a:ext cx="12418244" cy="1470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 Narrow"/>
              <a:buNone/>
              <a:defRPr b="0" i="0" cap="none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9"/>
          <p:cNvSpPr txBox="1">
            <a:spLocks noGrp="1"/>
          </p:cNvSpPr>
          <p:nvPr>
            <p:ph type="body" idx="1"/>
          </p:nvPr>
        </p:nvSpPr>
        <p:spPr>
          <a:xfrm>
            <a:off x="609600" y="6267450"/>
            <a:ext cx="10972800" cy="420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spcBef>
                <a:spcPts val="440"/>
              </a:spcBef>
              <a:spcAft>
                <a:spcPts val="0"/>
              </a:spcAft>
              <a:buClr>
                <a:srgbClr val="474C55"/>
              </a:buClr>
              <a:buSzPts val="2200"/>
              <a:buNone/>
              <a:defRPr sz="2200" cap="none">
                <a:solidFill>
                  <a:srgbClr val="474C55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Word"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474C55"/>
              </a:buClr>
              <a:buSzPts val="2000"/>
              <a:buNone/>
              <a:defRPr sz="2000">
                <a:solidFill>
                  <a:srgbClr val="474C55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929497"/>
              </a:buClr>
              <a:buSzPts val="1800"/>
              <a:buNone/>
              <a:defRPr sz="1800">
                <a:solidFill>
                  <a:srgbClr val="929497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929497"/>
              </a:buClr>
              <a:buSzPts val="1600"/>
              <a:buNone/>
              <a:defRPr sz="1600">
                <a:solidFill>
                  <a:srgbClr val="929497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929497"/>
              </a:buClr>
              <a:buSzPts val="1400"/>
              <a:buNone/>
              <a:defRPr sz="1400">
                <a:solidFill>
                  <a:srgbClr val="929497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929497"/>
              </a:buClr>
              <a:buSzPts val="1400"/>
              <a:buNone/>
              <a:defRPr sz="1400">
                <a:solidFill>
                  <a:srgbClr val="929497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929497"/>
              </a:buClr>
              <a:buSzPts val="1400"/>
              <a:buNone/>
              <a:defRPr sz="1400">
                <a:solidFill>
                  <a:srgbClr val="929497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929497"/>
              </a:buClr>
              <a:buSzPts val="1400"/>
              <a:buNone/>
              <a:defRPr sz="1400">
                <a:solidFill>
                  <a:srgbClr val="929497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929497"/>
              </a:buClr>
              <a:buSzPts val="1400"/>
              <a:buNone/>
              <a:defRPr sz="1400">
                <a:solidFill>
                  <a:srgbClr val="929497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929497"/>
              </a:buClr>
              <a:buSzPts val="1400"/>
              <a:buNone/>
              <a:defRPr sz="1400">
                <a:solidFill>
                  <a:srgbClr val="929497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title"/>
          </p:nvPr>
        </p:nvSpPr>
        <p:spPr>
          <a:xfrm>
            <a:off x="963084" y="4425719"/>
            <a:ext cx="10972800" cy="1522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Arial Narrow"/>
              <a:buNone/>
              <a:defRPr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055099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Word"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5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5384800" cy="4153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Arial"/>
              <a:buChar char="•"/>
              <a:defRPr sz="2800">
                <a:solidFill>
                  <a:schemeClr val="accent4"/>
                </a:solidFill>
              </a:defRPr>
            </a:lvl1pPr>
            <a:lvl2pPr marL="914400" marR="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Arial"/>
              <a:buChar char="–"/>
              <a:defRPr sz="2400">
                <a:solidFill>
                  <a:schemeClr val="accent4"/>
                </a:solidFill>
              </a:defRPr>
            </a:lvl2pPr>
            <a:lvl3pPr marL="1371600" marR="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Char char="•"/>
              <a:defRPr sz="2000">
                <a:solidFill>
                  <a:schemeClr val="accent4"/>
                </a:solidFill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Char char="–"/>
              <a:defRPr sz="1800">
                <a:solidFill>
                  <a:schemeClr val="accent4"/>
                </a:solidFill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Char char="»"/>
              <a:defRPr sz="1800">
                <a:solidFill>
                  <a:schemeClr val="accent4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9" name="Google Shape;49;p15"/>
          <p:cNvSpPr txBox="1">
            <a:spLocks noGrp="1"/>
          </p:cNvSpPr>
          <p:nvPr>
            <p:ph type="body" idx="2"/>
          </p:nvPr>
        </p:nvSpPr>
        <p:spPr>
          <a:xfrm>
            <a:off x="6197600" y="1600201"/>
            <a:ext cx="5384800" cy="4153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53565A"/>
              </a:buClr>
              <a:buSzPts val="2800"/>
              <a:buFont typeface="Arial"/>
              <a:buChar char="•"/>
              <a:defRPr sz="2800">
                <a:solidFill>
                  <a:srgbClr val="53565A"/>
                </a:solidFill>
              </a:defRPr>
            </a:lvl1pPr>
            <a:lvl2pPr marL="914400" marR="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53565A"/>
              </a:buClr>
              <a:buSzPts val="2400"/>
              <a:buFont typeface="Arial"/>
              <a:buChar char="–"/>
              <a:defRPr sz="2400">
                <a:solidFill>
                  <a:srgbClr val="53565A"/>
                </a:solidFill>
              </a:defRPr>
            </a:lvl2pPr>
            <a:lvl3pPr marL="1371600" marR="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3565A"/>
              </a:buClr>
              <a:buSzPts val="2000"/>
              <a:buFont typeface="Arial"/>
              <a:buChar char="•"/>
              <a:defRPr sz="2000">
                <a:solidFill>
                  <a:srgbClr val="53565A"/>
                </a:solidFill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53565A"/>
              </a:buClr>
              <a:buSzPts val="1800"/>
              <a:buFont typeface="Arial"/>
              <a:buChar char="–"/>
              <a:defRPr sz="1800">
                <a:solidFill>
                  <a:srgbClr val="53565A"/>
                </a:solidFill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53565A"/>
              </a:buClr>
              <a:buSzPts val="1800"/>
              <a:buFont typeface="Arial"/>
              <a:buChar char="»"/>
              <a:defRPr sz="1800">
                <a:solidFill>
                  <a:srgbClr val="53565A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50" name="Google Shape;50;p1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Arial Narrow"/>
              <a:buNone/>
              <a:defRPr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175920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Word"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Arial Narrow"/>
              <a:buNone/>
              <a:defRPr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6"/>
          <p:cNvSpPr txBox="1">
            <a:spLocks noGrp="1"/>
          </p:cNvSpPr>
          <p:nvPr>
            <p:ph type="body" idx="1"/>
          </p:nvPr>
        </p:nvSpPr>
        <p:spPr>
          <a:xfrm>
            <a:off x="609600" y="2174875"/>
            <a:ext cx="5386917" cy="3646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3860" algn="l">
              <a:spcBef>
                <a:spcPts val="480"/>
              </a:spcBef>
              <a:spcAft>
                <a:spcPts val="0"/>
              </a:spcAft>
              <a:buClr>
                <a:srgbClr val="D9192C"/>
              </a:buClr>
              <a:buSzPts val="2760"/>
              <a:buFont typeface="Arial"/>
              <a:buChar char="•"/>
              <a:defRPr sz="2400">
                <a:solidFill>
                  <a:srgbClr val="53565A"/>
                </a:solidFill>
              </a:defRPr>
            </a:lvl1pPr>
            <a:lvl2pPr marL="914400" lvl="1" indent="-374650" algn="l">
              <a:spcBef>
                <a:spcPts val="400"/>
              </a:spcBef>
              <a:spcAft>
                <a:spcPts val="0"/>
              </a:spcAft>
              <a:buClr>
                <a:srgbClr val="D9192C"/>
              </a:buClr>
              <a:buSzPts val="2300"/>
              <a:buFont typeface="Arial"/>
              <a:buChar char="•"/>
              <a:defRPr sz="2000">
                <a:solidFill>
                  <a:srgbClr val="53565A"/>
                </a:solidFill>
              </a:defRPr>
            </a:lvl2pPr>
            <a:lvl3pPr marL="1371600" lvl="2" indent="-360044" algn="l">
              <a:spcBef>
                <a:spcPts val="360"/>
              </a:spcBef>
              <a:spcAft>
                <a:spcPts val="0"/>
              </a:spcAft>
              <a:buClr>
                <a:srgbClr val="D9192C"/>
              </a:buClr>
              <a:buSzPts val="2070"/>
              <a:buFont typeface="Arial"/>
              <a:buChar char="•"/>
              <a:defRPr sz="1800">
                <a:solidFill>
                  <a:srgbClr val="53565A"/>
                </a:solidFill>
              </a:defRPr>
            </a:lvl3pPr>
            <a:lvl4pPr marL="1828800" lvl="3" indent="-345439" algn="l">
              <a:spcBef>
                <a:spcPts val="320"/>
              </a:spcBef>
              <a:spcAft>
                <a:spcPts val="0"/>
              </a:spcAft>
              <a:buClr>
                <a:srgbClr val="D9192C"/>
              </a:buClr>
              <a:buSzPts val="1840"/>
              <a:buFont typeface="Arial"/>
              <a:buChar char="•"/>
              <a:defRPr sz="1600">
                <a:solidFill>
                  <a:srgbClr val="53565A"/>
                </a:solidFill>
              </a:defRPr>
            </a:lvl4pPr>
            <a:lvl5pPr marL="2286000" lvl="4" indent="-345439" algn="l">
              <a:spcBef>
                <a:spcPts val="320"/>
              </a:spcBef>
              <a:spcAft>
                <a:spcPts val="0"/>
              </a:spcAft>
              <a:buClr>
                <a:srgbClr val="D9192C"/>
              </a:buClr>
              <a:buSzPts val="1840"/>
              <a:buFont typeface="Arial"/>
              <a:buChar char="•"/>
              <a:defRPr sz="1600">
                <a:solidFill>
                  <a:srgbClr val="53565A"/>
                </a:solidFill>
              </a:defRPr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4" name="Google Shape;54;p16"/>
          <p:cNvSpPr txBox="1">
            <a:spLocks noGrp="1"/>
          </p:cNvSpPr>
          <p:nvPr>
            <p:ph type="body" idx="2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520"/>
              </a:spcBef>
              <a:spcAft>
                <a:spcPts val="0"/>
              </a:spcAft>
              <a:buClr>
                <a:srgbClr val="D9192C"/>
              </a:buClr>
              <a:buSzPts val="2600"/>
              <a:buNone/>
              <a:defRPr sz="2600" b="0" i="0" cap="none">
                <a:solidFill>
                  <a:srgbClr val="D9192C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rgbClr val="474C55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rgbClr val="474C55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rgbClr val="474C55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rgbClr val="474C55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5" name="Google Shape;55;p16"/>
          <p:cNvSpPr txBox="1">
            <a:spLocks noGrp="1"/>
          </p:cNvSpPr>
          <p:nvPr>
            <p:ph type="body" idx="3"/>
          </p:nvPr>
        </p:nvSpPr>
        <p:spPr>
          <a:xfrm>
            <a:off x="6193368" y="2174875"/>
            <a:ext cx="5389033" cy="3646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3860" algn="l">
              <a:spcBef>
                <a:spcPts val="480"/>
              </a:spcBef>
              <a:spcAft>
                <a:spcPts val="0"/>
              </a:spcAft>
              <a:buClr>
                <a:srgbClr val="D9192C"/>
              </a:buClr>
              <a:buSzPts val="2760"/>
              <a:buFont typeface="Arial"/>
              <a:buChar char="•"/>
              <a:defRPr sz="2400">
                <a:solidFill>
                  <a:srgbClr val="53565A"/>
                </a:solidFill>
              </a:defRPr>
            </a:lvl1pPr>
            <a:lvl2pPr marL="914400" lvl="1" indent="-374650" algn="l">
              <a:spcBef>
                <a:spcPts val="400"/>
              </a:spcBef>
              <a:spcAft>
                <a:spcPts val="0"/>
              </a:spcAft>
              <a:buClr>
                <a:srgbClr val="D9192C"/>
              </a:buClr>
              <a:buSzPts val="2300"/>
              <a:buFont typeface="Arial"/>
              <a:buChar char="•"/>
              <a:defRPr sz="2000">
                <a:solidFill>
                  <a:srgbClr val="53565A"/>
                </a:solidFill>
              </a:defRPr>
            </a:lvl2pPr>
            <a:lvl3pPr marL="1371600" lvl="2" indent="-360044" algn="l">
              <a:spcBef>
                <a:spcPts val="360"/>
              </a:spcBef>
              <a:spcAft>
                <a:spcPts val="0"/>
              </a:spcAft>
              <a:buClr>
                <a:srgbClr val="D9192C"/>
              </a:buClr>
              <a:buSzPts val="2070"/>
              <a:buFont typeface="Arial"/>
              <a:buChar char="•"/>
              <a:defRPr sz="1800">
                <a:solidFill>
                  <a:srgbClr val="53565A"/>
                </a:solidFill>
              </a:defRPr>
            </a:lvl3pPr>
            <a:lvl4pPr marL="1828800" lvl="3" indent="-345439" algn="l">
              <a:spcBef>
                <a:spcPts val="320"/>
              </a:spcBef>
              <a:spcAft>
                <a:spcPts val="0"/>
              </a:spcAft>
              <a:buClr>
                <a:srgbClr val="D9192C"/>
              </a:buClr>
              <a:buSzPts val="1840"/>
              <a:buFont typeface="Arial"/>
              <a:buChar char="•"/>
              <a:defRPr sz="1600">
                <a:solidFill>
                  <a:srgbClr val="53565A"/>
                </a:solidFill>
              </a:defRPr>
            </a:lvl4pPr>
            <a:lvl5pPr marL="2286000" lvl="4" indent="-345439" algn="l">
              <a:spcBef>
                <a:spcPts val="320"/>
              </a:spcBef>
              <a:spcAft>
                <a:spcPts val="0"/>
              </a:spcAft>
              <a:buClr>
                <a:srgbClr val="D9192C"/>
              </a:buClr>
              <a:buSzPts val="1840"/>
              <a:buFont typeface="Arial"/>
              <a:buChar char="•"/>
              <a:defRPr sz="1600">
                <a:solidFill>
                  <a:srgbClr val="53565A"/>
                </a:solidFill>
              </a:defRPr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6" name="Google Shape;56;p16"/>
          <p:cNvSpPr txBox="1">
            <a:spLocks noGrp="1"/>
          </p:cNvSpPr>
          <p:nvPr>
            <p:ph type="body" idx="4"/>
          </p:nvPr>
        </p:nvSpPr>
        <p:spPr>
          <a:xfrm>
            <a:off x="609601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520"/>
              </a:spcBef>
              <a:spcAft>
                <a:spcPts val="0"/>
              </a:spcAft>
              <a:buClr>
                <a:srgbClr val="D9192C"/>
              </a:buClr>
              <a:buSzPts val="2600"/>
              <a:buNone/>
              <a:defRPr sz="2600" b="0" i="0" cap="none">
                <a:solidFill>
                  <a:srgbClr val="D9192C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rgbClr val="474C55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rgbClr val="474C55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rgbClr val="474C55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rgbClr val="474C55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268823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Word"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239A20-91A0-DE40-9117-91AB084A387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 sz="3600" b="1">
                <a:latin typeface="Aptos ExtraBold" panose="020B0004020202020204" pitchFamily="34" charset="0"/>
              </a:defRPr>
            </a:lvl1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9953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Word"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44F8A-1A7E-2557-B43B-F9129903B2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C62708-8D2E-9C1D-D5CC-86E08F4363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E863E-0B37-79E0-3B80-B0E7CA7FD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89966-76B6-4FFE-898C-7E6F8E66CC1D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9E2EE5-6CD6-F189-CD26-7C9DEC828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A153A-C90F-198B-4667-3C78F3C54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48EFD-20DD-4B11-865F-DD77DFE12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6286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Word"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DB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DB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DB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DB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DB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DB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DB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DB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DB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DB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DB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8"/>
          <p:cNvSpPr/>
          <p:nvPr/>
        </p:nvSpPr>
        <p:spPr>
          <a:xfrm>
            <a:off x="-123152" y="6022106"/>
            <a:ext cx="12416752" cy="105756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8"/>
          <p:cNvSpPr/>
          <p:nvPr/>
        </p:nvSpPr>
        <p:spPr>
          <a:xfrm>
            <a:off x="-110837" y="5994395"/>
            <a:ext cx="12416752" cy="45719"/>
          </a:xfrm>
          <a:prstGeom prst="rect">
            <a:avLst/>
          </a:prstGeom>
          <a:solidFill>
            <a:srgbClr val="73777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8"/>
          <p:cNvSpPr/>
          <p:nvPr/>
        </p:nvSpPr>
        <p:spPr>
          <a:xfrm>
            <a:off x="-110837" y="5898944"/>
            <a:ext cx="12416752" cy="45719"/>
          </a:xfrm>
          <a:prstGeom prst="rect">
            <a:avLst/>
          </a:prstGeom>
          <a:solidFill>
            <a:srgbClr val="D919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8"/>
          <p:cNvSpPr/>
          <p:nvPr/>
        </p:nvSpPr>
        <p:spPr>
          <a:xfrm>
            <a:off x="-129689" y="-150830"/>
            <a:ext cx="12416752" cy="6072654"/>
          </a:xfrm>
          <a:prstGeom prst="rect">
            <a:avLst/>
          </a:prstGeom>
          <a:solidFill>
            <a:srgbClr val="D9192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" name="Google Shape;19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44853" y="94484"/>
            <a:ext cx="3902294" cy="4162447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Word"/>
      </p:transition>
    </mc:Choice>
    <mc:Fallback xmlns="">
      <p:transition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D9192C"/>
              </a:buClr>
              <a:buSzPts val="5400"/>
              <a:buFont typeface="Arial Narrow"/>
              <a:buNone/>
              <a:defRPr sz="5400" b="0" i="0" u="none" strike="noStrike" cap="none">
                <a:solidFill>
                  <a:srgbClr val="D9192C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rgbClr val="474C55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474C5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rgbClr val="474C55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rgbClr val="474C5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rgbClr val="474C5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474C5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474C55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rgbClr val="474C5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474C55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rgbClr val="474C5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92949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10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92949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2949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29497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29497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29497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29497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29497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29497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29497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2949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p10"/>
          <p:cNvSpPr txBox="1"/>
          <p:nvPr/>
        </p:nvSpPr>
        <p:spPr>
          <a:xfrm>
            <a:off x="360623" y="64387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10/5/21</a:t>
            </a:r>
            <a:endParaRPr sz="1200" b="0" i="0" u="none" strike="noStrike" cap="none">
              <a:solidFill>
                <a:srgbClr val="D9D9D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0"/>
          <p:cNvSpPr txBox="1"/>
          <p:nvPr/>
        </p:nvSpPr>
        <p:spPr>
          <a:xfrm>
            <a:off x="9046649" y="64387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rgbClr val="D9D9D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0"/>
          <p:cNvSpPr/>
          <p:nvPr/>
        </p:nvSpPr>
        <p:spPr>
          <a:xfrm>
            <a:off x="-17161" y="6025992"/>
            <a:ext cx="12416752" cy="83589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0"/>
          <p:cNvSpPr/>
          <p:nvPr/>
        </p:nvSpPr>
        <p:spPr>
          <a:xfrm>
            <a:off x="-110837" y="5994395"/>
            <a:ext cx="12416752" cy="45719"/>
          </a:xfrm>
          <a:prstGeom prst="rect">
            <a:avLst/>
          </a:prstGeom>
          <a:solidFill>
            <a:srgbClr val="73777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0"/>
          <p:cNvSpPr/>
          <p:nvPr/>
        </p:nvSpPr>
        <p:spPr>
          <a:xfrm>
            <a:off x="-110837" y="5898944"/>
            <a:ext cx="12416752" cy="45719"/>
          </a:xfrm>
          <a:prstGeom prst="rect">
            <a:avLst/>
          </a:prstGeom>
          <a:solidFill>
            <a:srgbClr val="D919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" name="Google Shape;34;p1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462082" y="5944665"/>
            <a:ext cx="5267836" cy="99562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CEEF55B7-81A8-2E1F-9949-F378BAC9F94F}"/>
              </a:ext>
            </a:extLst>
          </p:cNvPr>
          <p:cNvSpPr txBox="1">
            <a:spLocks/>
          </p:cNvSpPr>
          <p:nvPr userDrawn="1"/>
        </p:nvSpPr>
        <p:spPr>
          <a:xfrm>
            <a:off x="10863943" y="6143846"/>
            <a:ext cx="718457" cy="57763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3600" b="1" i="0" u="none" strike="noStrike" cap="none">
                <a:solidFill>
                  <a:srgbClr val="000000"/>
                </a:solidFill>
                <a:latin typeface="Aptos ExtraBold" panose="020B0004020202020204" pitchFamily="34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z="3200" smtClean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pPr/>
              <a:t>‹#›</a:t>
            </a:fld>
            <a:endParaRPr lang="en-US" sz="3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03542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8" r:id="rId4"/>
    <p:sldLayoutId id="2147483659" r:id="rId5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Word"/>
      </p:transition>
    </mc:Choice>
    <mc:Fallback xmlns="">
      <p:transition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"/>
          <p:cNvSpPr txBox="1">
            <a:spLocks noGrp="1"/>
          </p:cNvSpPr>
          <p:nvPr>
            <p:ph type="title"/>
          </p:nvPr>
        </p:nvSpPr>
        <p:spPr>
          <a:xfrm>
            <a:off x="-327991" y="4273577"/>
            <a:ext cx="12746235" cy="1470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/>
              <a:t>Biology Lab 1107: Meiosis and sexual life cycle</a:t>
            </a:r>
            <a:endParaRPr dirty="0"/>
          </a:p>
        </p:txBody>
      </p:sp>
      <p:sp>
        <p:nvSpPr>
          <p:cNvPr id="66" name="Google Shape;66;p1"/>
          <p:cNvSpPr txBox="1">
            <a:spLocks noGrp="1"/>
          </p:cNvSpPr>
          <p:nvPr>
            <p:ph type="body" idx="1"/>
          </p:nvPr>
        </p:nvSpPr>
        <p:spPr>
          <a:xfrm>
            <a:off x="609600" y="6267450"/>
            <a:ext cx="10972800" cy="420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474C55"/>
              </a:buClr>
              <a:buSzPts val="2200"/>
              <a:buNone/>
            </a:pPr>
            <a:r>
              <a:rPr lang="en-US" dirty="0"/>
              <a:t>BIO 1107 | Principles of Biology 1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EA8D99-56D8-31C1-0DE3-15F95FFFEF99}"/>
              </a:ext>
            </a:extLst>
          </p:cNvPr>
          <p:cNvSpPr txBox="1"/>
          <p:nvPr/>
        </p:nvSpPr>
        <p:spPr>
          <a:xfrm>
            <a:off x="2946919" y="5385501"/>
            <a:ext cx="62981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u="sng" dirty="0">
                <a:solidFill>
                  <a:schemeClr val="bg1"/>
                </a:solidFill>
                <a:latin typeface="Tw Cen MT" panose="020B0602020104020603" pitchFamily="34" charset="0"/>
                <a:cs typeface="Times New Roman"/>
              </a:rPr>
              <a:t>Instructor</a:t>
            </a:r>
            <a:r>
              <a:rPr lang="en-US" sz="3200" dirty="0">
                <a:solidFill>
                  <a:schemeClr val="bg1"/>
                </a:solidFill>
                <a:latin typeface="Tw Cen MT" panose="020B0602020104020603" pitchFamily="34" charset="0"/>
                <a:cs typeface="Times New Roman"/>
              </a:rPr>
              <a:t>: Mrs. Oyawale 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Word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2E4045-ABD6-0B6A-E5F1-F27541F6A5F2}"/>
              </a:ext>
            </a:extLst>
          </p:cNvPr>
          <p:cNvSpPr txBox="1"/>
          <p:nvPr/>
        </p:nvSpPr>
        <p:spPr>
          <a:xfrm>
            <a:off x="72887" y="1489053"/>
            <a:ext cx="12046226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600" b="1" u="sng" dirty="0"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Meiosis and sexual life cycle</a:t>
            </a:r>
            <a:r>
              <a:rPr lang="en-US" sz="6600" b="1" dirty="0"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ctr"/>
            <a:r>
              <a:rPr lang="en-US" sz="6600" b="1" dirty="0"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 1</a:t>
            </a:r>
          </a:p>
        </p:txBody>
      </p:sp>
    </p:spTree>
    <p:extLst>
      <p:ext uri="{BB962C8B-B14F-4D97-AF65-F5344CB8AC3E}">
        <p14:creationId xmlns:p14="http://schemas.microsoft.com/office/powerpoint/2010/main" val="29647119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Word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9955F5-C5E3-B6E4-E281-58509435EC5D}"/>
              </a:ext>
            </a:extLst>
          </p:cNvPr>
          <p:cNvSpPr txBox="1"/>
          <p:nvPr/>
        </p:nvSpPr>
        <p:spPr>
          <a:xfrm>
            <a:off x="251589" y="38061"/>
            <a:ext cx="117147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u="sng" dirty="0"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Meiosis and fertilization together maintain chromosome-set balance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278D8C-4442-65C5-E050-702F88962D1B}"/>
              </a:ext>
            </a:extLst>
          </p:cNvPr>
          <p:cNvSpPr/>
          <p:nvPr/>
        </p:nvSpPr>
        <p:spPr>
          <a:xfrm>
            <a:off x="251589" y="936097"/>
            <a:ext cx="12192000" cy="47941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CCD72C-4836-4F13-0846-FAFD1AD0102B}"/>
              </a:ext>
            </a:extLst>
          </p:cNvPr>
          <p:cNvSpPr txBox="1">
            <a:spLocks/>
          </p:cNvSpPr>
          <p:nvPr/>
        </p:nvSpPr>
        <p:spPr>
          <a:xfrm>
            <a:off x="251589" y="816828"/>
            <a:ext cx="4883426" cy="45290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Bahnschrift Condensed" panose="020B0502040204020203" pitchFamily="34" charset="0"/>
              </a:rPr>
              <a:t>Meiosis and fertilization together maintain chromosome-set balance.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Bahnschrift Condensed" panose="020B0502040204020203" pitchFamily="34" charset="0"/>
              </a:rPr>
              <a:t>Meiosis halves the chromosome sets in gametes. Fertilization brings two sets together again, maintaining chromosome number while allowing genetic variety.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6CBD58-D558-54DD-90F5-EE9372C6CB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0888" y="1488023"/>
            <a:ext cx="6705498" cy="3352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4458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Word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9955F5-C5E3-B6E4-E281-58509435EC5D}"/>
              </a:ext>
            </a:extLst>
          </p:cNvPr>
          <p:cNvSpPr txBox="1"/>
          <p:nvPr/>
        </p:nvSpPr>
        <p:spPr>
          <a:xfrm>
            <a:off x="251589" y="29817"/>
            <a:ext cx="117147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u="sng" dirty="0"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Chromosomes carry genes at defined positions called loci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278D8C-4442-65C5-E050-702F88962D1B}"/>
              </a:ext>
            </a:extLst>
          </p:cNvPr>
          <p:cNvSpPr/>
          <p:nvPr/>
        </p:nvSpPr>
        <p:spPr>
          <a:xfrm>
            <a:off x="251589" y="866523"/>
            <a:ext cx="12192000" cy="47941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CCD72C-4836-4F13-0846-FAFD1AD0102B}"/>
              </a:ext>
            </a:extLst>
          </p:cNvPr>
          <p:cNvSpPr txBox="1">
            <a:spLocks/>
          </p:cNvSpPr>
          <p:nvPr/>
        </p:nvSpPr>
        <p:spPr>
          <a:xfrm>
            <a:off x="343170" y="767132"/>
            <a:ext cx="4417673" cy="45290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Bahnschrift Condensed" panose="020B0502040204020203" pitchFamily="34" charset="0"/>
              </a:rPr>
              <a:t>Chromosomes carry genes at defined positions called loci.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Bahnschrift Condensed" panose="020B0502040204020203" pitchFamily="34" charset="0"/>
              </a:rPr>
              <a:t>Genes are DNA segments carried on chromosomes. Their location is called a locus, and gametes pass this genetic information to offspring.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C3C006-CAFB-B52F-0853-9D7905628D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0843" y="1121471"/>
            <a:ext cx="73152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3858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Word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0ED8DAD-6269-ED91-04EA-04FA6D900DDC}"/>
              </a:ext>
            </a:extLst>
          </p:cNvPr>
          <p:cNvSpPr txBox="1"/>
          <p:nvPr/>
        </p:nvSpPr>
        <p:spPr>
          <a:xfrm>
            <a:off x="990600" y="68602"/>
            <a:ext cx="102679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u="sng" dirty="0"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Thought Questions</a:t>
            </a:r>
            <a:endParaRPr lang="en-US" sz="3600" b="1" u="sng" dirty="0">
              <a:effectLst/>
              <a:latin typeface="Garamond" panose="02020404030301010803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3DB6A4-613D-0B56-E230-8115FCB5C116}"/>
              </a:ext>
            </a:extLst>
          </p:cNvPr>
          <p:cNvSpPr txBox="1"/>
          <p:nvPr/>
        </p:nvSpPr>
        <p:spPr>
          <a:xfrm>
            <a:off x="495867" y="949462"/>
            <a:ext cx="11580176" cy="3364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Garamond" panose="02020404030301010803" pitchFamily="18" charset="0"/>
              </a:rPr>
              <a:t>Q1:</a:t>
            </a:r>
            <a:r>
              <a:rPr lang="en-US" sz="2400" dirty="0">
                <a:latin typeface="Garamond" panose="02020404030301010803" pitchFamily="18" charset="0"/>
              </a:rPr>
              <a:t> </a:t>
            </a:r>
            <a:r>
              <a:rPr lang="en-US" sz="2400" b="1" i="1" dirty="0">
                <a:latin typeface="Garamond" panose="02020404030301010803" pitchFamily="18" charset="0"/>
              </a:rPr>
              <a:t>What term is given to the specific, defined position that a gene occupies on a chromosome?</a:t>
            </a:r>
          </a:p>
          <a:p>
            <a:pPr marL="457200" indent="-457200">
              <a:lnSpc>
                <a:spcPct val="150000"/>
              </a:lnSpc>
              <a:buFont typeface="Arial"/>
              <a:buAutoNum type="alphaUcParenR"/>
            </a:pPr>
            <a:r>
              <a:rPr lang="en-US" sz="2400" dirty="0">
                <a:latin typeface="Garamond" panose="02020404030301010803" pitchFamily="18" charset="0"/>
              </a:rPr>
              <a:t>Locus</a:t>
            </a:r>
          </a:p>
          <a:p>
            <a:pPr marL="457200" indent="-457200">
              <a:lnSpc>
                <a:spcPct val="150000"/>
              </a:lnSpc>
              <a:buFont typeface="Arial"/>
              <a:buAutoNum type="alphaUcParenR"/>
            </a:pPr>
            <a:r>
              <a:rPr lang="en-US" sz="2400" dirty="0">
                <a:latin typeface="Garamond" panose="02020404030301010803" pitchFamily="18" charset="0"/>
              </a:rPr>
              <a:t>Centriole</a:t>
            </a:r>
          </a:p>
          <a:p>
            <a:pPr marL="457200" indent="-457200">
              <a:lnSpc>
                <a:spcPct val="150000"/>
              </a:lnSpc>
              <a:buFont typeface="Arial"/>
              <a:buAutoNum type="alphaUcParenR"/>
            </a:pPr>
            <a:r>
              <a:rPr lang="en-US" sz="2400" dirty="0">
                <a:latin typeface="Garamond" panose="02020404030301010803" pitchFamily="18" charset="0"/>
              </a:rPr>
              <a:t>Nucleolus</a:t>
            </a:r>
          </a:p>
          <a:p>
            <a:pPr marL="457200" indent="-457200">
              <a:lnSpc>
                <a:spcPct val="150000"/>
              </a:lnSpc>
              <a:buFont typeface="Arial"/>
              <a:buAutoNum type="alphaUcParenR"/>
            </a:pPr>
            <a:r>
              <a:rPr lang="en-US" sz="2400" dirty="0">
                <a:latin typeface="Garamond" panose="02020404030301010803" pitchFamily="18" charset="0"/>
              </a:rPr>
              <a:t>Ribosome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270ED9-0D8B-9F8F-3E73-0193114D2922}"/>
              </a:ext>
            </a:extLst>
          </p:cNvPr>
          <p:cNvSpPr/>
          <p:nvPr/>
        </p:nvSpPr>
        <p:spPr>
          <a:xfrm>
            <a:off x="350638" y="2174639"/>
            <a:ext cx="1766397" cy="477008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573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Word"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1" presetClass="entr" presetSubtype="1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7" dur="75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" presetClass="emph" presetSubtype="0" repeatCount="indefinite" accel="48000" autoRev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6" dur="500" fill="hold"/>
                                            <p:tgtEl>
                                              <p:spTgt spid="5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" fill="hold">
                          <p:stCondLst>
                            <p:cond delay="indefinite"/>
                          </p:stCondLst>
                          <p:childTnLst>
                            <p:par>
                              <p:cTn id="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" presetID="21" presetClass="entr" presetSubtype="1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11" dur="75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6" presetClass="emph" presetSubtype="0" repeatCount="indefinite" accel="48000" autoRev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13" dur="500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/>
          <p:bldP spid="14" grpId="0" animBg="1"/>
          <p:bldP spid="2" grpId="0" animBg="1"/>
        </p:bldLst>
      </p:timing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9955F5-C5E3-B6E4-E281-58509435EC5D}"/>
              </a:ext>
            </a:extLst>
          </p:cNvPr>
          <p:cNvSpPr txBox="1"/>
          <p:nvPr/>
        </p:nvSpPr>
        <p:spPr>
          <a:xfrm>
            <a:off x="-334151" y="68602"/>
            <a:ext cx="12886277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700" b="1" u="sng" dirty="0"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Sexual reproduction recombines genetic information from gametes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278D8C-4442-65C5-E050-702F88962D1B}"/>
              </a:ext>
            </a:extLst>
          </p:cNvPr>
          <p:cNvSpPr/>
          <p:nvPr/>
        </p:nvSpPr>
        <p:spPr>
          <a:xfrm>
            <a:off x="251589" y="936097"/>
            <a:ext cx="12192000" cy="47941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CCD72C-4836-4F13-0846-FAFD1AD0102B}"/>
              </a:ext>
            </a:extLst>
          </p:cNvPr>
          <p:cNvSpPr txBox="1">
            <a:spLocks/>
          </p:cNvSpPr>
          <p:nvPr/>
        </p:nvSpPr>
        <p:spPr>
          <a:xfrm>
            <a:off x="200254" y="798532"/>
            <a:ext cx="4676546" cy="45290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Bahnschrift Condensed" panose="020B0502040204020203" pitchFamily="34" charset="0"/>
              </a:rPr>
              <a:t>Sexual reproduction recombines genetic information from gametes.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Bahnschrift Condensed" panose="020B0502040204020203" pitchFamily="34" charset="0"/>
              </a:rPr>
              <a:t>Asexual reproduction usually produces clones from one parent. Sexual reproduction combines gametes, producing new combinations of inherited genes.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C5DFF5-BA98-4DDC-9F6B-D2B4378122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0" y="1313775"/>
            <a:ext cx="73152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1576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Word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9955F5-C5E3-B6E4-E281-58509435EC5D}"/>
              </a:ext>
            </a:extLst>
          </p:cNvPr>
          <p:cNvSpPr txBox="1"/>
          <p:nvPr/>
        </p:nvSpPr>
        <p:spPr>
          <a:xfrm>
            <a:off x="-334151" y="68602"/>
            <a:ext cx="128862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u="sng" dirty="0"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Homologs are parental counterparts; sisters are replication copies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278D8C-4442-65C5-E050-702F88962D1B}"/>
              </a:ext>
            </a:extLst>
          </p:cNvPr>
          <p:cNvSpPr/>
          <p:nvPr/>
        </p:nvSpPr>
        <p:spPr>
          <a:xfrm>
            <a:off x="251589" y="936097"/>
            <a:ext cx="12192000" cy="47941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CCD72C-4836-4F13-0846-FAFD1AD0102B}"/>
              </a:ext>
            </a:extLst>
          </p:cNvPr>
          <p:cNvSpPr txBox="1">
            <a:spLocks/>
          </p:cNvSpPr>
          <p:nvPr/>
        </p:nvSpPr>
        <p:spPr>
          <a:xfrm>
            <a:off x="152688" y="989388"/>
            <a:ext cx="5642315" cy="3882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Bahnschrift Condensed" panose="020B0502040204020203" pitchFamily="34" charset="0"/>
              </a:rPr>
              <a:t>Homologs are parental counterparts; sisters are replication copies.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Bahnschrift Condensed" panose="020B0502040204020203" pitchFamily="34" charset="0"/>
              </a:rPr>
              <a:t>Homologs come from different parents and carry corresponding gene positions. Sister chromatids are the replicated copies of one chromosome.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28CCEB-3420-C6B6-D8AC-48E4597D9E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653" y="1391478"/>
            <a:ext cx="5488026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05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Word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0ED8DAD-6269-ED91-04EA-04FA6D900DDC}"/>
              </a:ext>
            </a:extLst>
          </p:cNvPr>
          <p:cNvSpPr txBox="1"/>
          <p:nvPr/>
        </p:nvSpPr>
        <p:spPr>
          <a:xfrm>
            <a:off x="990600" y="68602"/>
            <a:ext cx="102679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u="sng" dirty="0"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Thought Questions</a:t>
            </a:r>
            <a:endParaRPr lang="en-US" sz="3600" b="1" u="sng" dirty="0">
              <a:effectLst/>
              <a:latin typeface="Garamond" panose="02020404030301010803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3DB6A4-613D-0B56-E230-8115FCB5C116}"/>
              </a:ext>
            </a:extLst>
          </p:cNvPr>
          <p:cNvSpPr txBox="1"/>
          <p:nvPr/>
        </p:nvSpPr>
        <p:spPr>
          <a:xfrm>
            <a:off x="495867" y="949462"/>
            <a:ext cx="11257416" cy="3364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Garamond" panose="02020404030301010803" pitchFamily="18" charset="0"/>
              </a:rPr>
              <a:t>Q2:</a:t>
            </a:r>
            <a:r>
              <a:rPr lang="en-US" sz="2400" dirty="0">
                <a:latin typeface="Garamond" panose="02020404030301010803" pitchFamily="18" charset="0"/>
              </a:rPr>
              <a:t> </a:t>
            </a:r>
            <a:r>
              <a:rPr lang="en-US" sz="2400" b="1" i="1" dirty="0">
                <a:latin typeface="Garamond" panose="02020404030301010803" pitchFamily="18" charset="0"/>
              </a:rPr>
              <a:t>Where do the two members of a pair of homologous chromosomes typically originate from in a diploid organism?</a:t>
            </a:r>
          </a:p>
          <a:p>
            <a:pPr marL="457200" indent="-457200">
              <a:lnSpc>
                <a:spcPct val="150000"/>
              </a:lnSpc>
              <a:buFont typeface="Arial"/>
              <a:buAutoNum type="alphaUcParenR"/>
            </a:pPr>
            <a:r>
              <a:rPr lang="en-US" sz="2400" dirty="0">
                <a:latin typeface="Garamond" panose="02020404030301010803" pitchFamily="18" charset="0"/>
              </a:rPr>
              <a:t>Both chromosomes come from the mother during gamete formation</a:t>
            </a:r>
          </a:p>
          <a:p>
            <a:pPr marL="457200" indent="-457200">
              <a:lnSpc>
                <a:spcPct val="150000"/>
              </a:lnSpc>
              <a:buFont typeface="Arial"/>
              <a:buAutoNum type="alphaUcParenR"/>
            </a:pPr>
            <a:r>
              <a:rPr lang="en-US" sz="2400" dirty="0">
                <a:latin typeface="Garamond" panose="02020404030301010803" pitchFamily="18" charset="0"/>
              </a:rPr>
              <a:t>One chromosome comes from the mother and the other from the father</a:t>
            </a:r>
          </a:p>
          <a:p>
            <a:pPr marL="457200" indent="-457200">
              <a:lnSpc>
                <a:spcPct val="150000"/>
              </a:lnSpc>
              <a:buFont typeface="Arial"/>
              <a:buAutoNum type="alphaUcParenR"/>
            </a:pPr>
            <a:r>
              <a:rPr lang="en-US" sz="2400" dirty="0">
                <a:latin typeface="Garamond" panose="02020404030301010803" pitchFamily="18" charset="0"/>
              </a:rPr>
              <a:t>Both chromosomes are synthesized via independent DNA replication in the zygote</a:t>
            </a:r>
          </a:p>
          <a:p>
            <a:pPr marL="457200" indent="-457200">
              <a:lnSpc>
                <a:spcPct val="150000"/>
              </a:lnSpc>
              <a:buFont typeface="Arial"/>
              <a:buAutoNum type="alphaUcParenR"/>
            </a:pPr>
            <a:r>
              <a:rPr lang="en-US" sz="2400" dirty="0">
                <a:latin typeface="Garamond" panose="02020404030301010803" pitchFamily="18" charset="0"/>
              </a:rPr>
              <a:t>One chromosome is inherited entirely from asexual budding while the other is lost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270ED9-0D8B-9F8F-3E73-0193114D2922}"/>
              </a:ext>
            </a:extLst>
          </p:cNvPr>
          <p:cNvSpPr/>
          <p:nvPr/>
        </p:nvSpPr>
        <p:spPr>
          <a:xfrm>
            <a:off x="495867" y="2631556"/>
            <a:ext cx="9274298" cy="618539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5278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Word"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1" presetClass="entr" presetSubtype="1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7" dur="75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" presetClass="emph" presetSubtype="0" repeatCount="indefinite" accel="48000" autoRev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6" dur="500" fill="hold"/>
                                            <p:tgtEl>
                                              <p:spTgt spid="5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" fill="hold">
                          <p:stCondLst>
                            <p:cond delay="indefinite"/>
                          </p:stCondLst>
                          <p:childTnLst>
                            <p:par>
                              <p:cTn id="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" presetID="21" presetClass="entr" presetSubtype="1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11" dur="75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6" presetClass="emph" presetSubtype="0" repeatCount="indefinite" accel="48000" autoRev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13" dur="500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/>
          <p:bldP spid="14" grpId="0" animBg="1"/>
          <p:bldP spid="2" grpId="0" animBg="1"/>
        </p:bldLst>
      </p:timing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9955F5-C5E3-B6E4-E281-58509435EC5D}"/>
              </a:ext>
            </a:extLst>
          </p:cNvPr>
          <p:cNvSpPr txBox="1"/>
          <p:nvPr/>
        </p:nvSpPr>
        <p:spPr>
          <a:xfrm>
            <a:off x="-334151" y="68602"/>
            <a:ext cx="128862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u="sng" dirty="0"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Diploid and haploid describe chromosome sets, not DNA quantity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278D8C-4442-65C5-E050-702F88962D1B}"/>
              </a:ext>
            </a:extLst>
          </p:cNvPr>
          <p:cNvSpPr/>
          <p:nvPr/>
        </p:nvSpPr>
        <p:spPr>
          <a:xfrm>
            <a:off x="332021" y="955713"/>
            <a:ext cx="12192000" cy="47941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CCD72C-4836-4F13-0846-FAFD1AD0102B}"/>
              </a:ext>
            </a:extLst>
          </p:cNvPr>
          <p:cNvSpPr txBox="1">
            <a:spLocks/>
          </p:cNvSpPr>
          <p:nvPr/>
        </p:nvSpPr>
        <p:spPr>
          <a:xfrm>
            <a:off x="332021" y="1103587"/>
            <a:ext cx="5353162" cy="3882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Bahnschrift Condensed" panose="020B0502040204020203" pitchFamily="34" charset="0"/>
              </a:rPr>
              <a:t>Diploid and haploid describe chromosome sets, not DNA quantity.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Bahnschrift Condensed" panose="020B0502040204020203" pitchFamily="34" charset="0"/>
              </a:rPr>
              <a:t>Typical human body cells have 46 chromosomes in two sets. Gametes have 23 in one set, and DNA replication does not change set number.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00C7FA-0474-4073-E04E-F151BE9F4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350717"/>
            <a:ext cx="5488026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5989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Word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0ED8DAD-6269-ED91-04EA-04FA6D900DDC}"/>
              </a:ext>
            </a:extLst>
          </p:cNvPr>
          <p:cNvSpPr txBox="1"/>
          <p:nvPr/>
        </p:nvSpPr>
        <p:spPr>
          <a:xfrm>
            <a:off x="990600" y="68602"/>
            <a:ext cx="102679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u="sng" dirty="0"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Thought Questions</a:t>
            </a:r>
            <a:endParaRPr lang="en-US" sz="3600" b="1" u="sng" dirty="0">
              <a:effectLst/>
              <a:latin typeface="Garamond" panose="02020404030301010803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3DB6A4-613D-0B56-E230-8115FCB5C116}"/>
              </a:ext>
            </a:extLst>
          </p:cNvPr>
          <p:cNvSpPr txBox="1"/>
          <p:nvPr/>
        </p:nvSpPr>
        <p:spPr>
          <a:xfrm>
            <a:off x="495867" y="949462"/>
            <a:ext cx="11257416" cy="3364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Garamond" panose="02020404030301010803" pitchFamily="18" charset="0"/>
              </a:rPr>
              <a:t>Q3:</a:t>
            </a:r>
            <a:r>
              <a:rPr lang="en-US" sz="2400" dirty="0">
                <a:latin typeface="Garamond" panose="02020404030301010803" pitchFamily="18" charset="0"/>
              </a:rPr>
              <a:t> </a:t>
            </a:r>
            <a:r>
              <a:rPr lang="en-US" sz="2400" b="1" i="1" dirty="0">
                <a:latin typeface="Garamond" panose="02020404030301010803" pitchFamily="18" charset="0"/>
              </a:rPr>
              <a:t>A standard human sperm cell contains (n = 23) chromosomes. How are these 23 chromosomes specifically categorized?</a:t>
            </a:r>
          </a:p>
          <a:p>
            <a:pPr marL="457200" indent="-457200">
              <a:lnSpc>
                <a:spcPct val="150000"/>
              </a:lnSpc>
              <a:buFont typeface="Arial"/>
              <a:buAutoNum type="alphaUcParenR"/>
            </a:pPr>
            <a:r>
              <a:rPr lang="en-US" sz="2400" dirty="0">
                <a:latin typeface="Garamond" panose="02020404030301010803" pitchFamily="18" charset="0"/>
              </a:rPr>
              <a:t>22 autosomes and 1 sex chromosome</a:t>
            </a:r>
          </a:p>
          <a:p>
            <a:pPr marL="457200" indent="-457200">
              <a:lnSpc>
                <a:spcPct val="150000"/>
              </a:lnSpc>
              <a:buFont typeface="Arial"/>
              <a:buAutoNum type="alphaUcParenR"/>
            </a:pPr>
            <a:r>
              <a:rPr lang="en-US" sz="2400" dirty="0">
                <a:latin typeface="Garamond" panose="02020404030301010803" pitchFamily="18" charset="0"/>
              </a:rPr>
              <a:t>23 autosomes and 0 sex chromosomes</a:t>
            </a:r>
          </a:p>
          <a:p>
            <a:pPr marL="457200" indent="-457200">
              <a:lnSpc>
                <a:spcPct val="150000"/>
              </a:lnSpc>
              <a:buFont typeface="Arial"/>
              <a:buAutoNum type="alphaUcParenR"/>
            </a:pPr>
            <a:r>
              <a:rPr lang="en-US" sz="2400" dirty="0">
                <a:latin typeface="Garamond" panose="02020404030301010803" pitchFamily="18" charset="0"/>
              </a:rPr>
              <a:t>21 autosomes and 2 sex chromosomes</a:t>
            </a:r>
          </a:p>
          <a:p>
            <a:pPr marL="457200" indent="-457200">
              <a:lnSpc>
                <a:spcPct val="150000"/>
              </a:lnSpc>
              <a:buFont typeface="Arial"/>
              <a:buAutoNum type="alphaUcParenR"/>
            </a:pPr>
            <a:r>
              <a:rPr lang="en-US" sz="2400" dirty="0">
                <a:latin typeface="Garamond" panose="02020404030301010803" pitchFamily="18" charset="0"/>
              </a:rPr>
              <a:t>44 autosomes and 2 sex chromosomes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270ED9-0D8B-9F8F-3E73-0193114D2922}"/>
              </a:ext>
            </a:extLst>
          </p:cNvPr>
          <p:cNvSpPr/>
          <p:nvPr/>
        </p:nvSpPr>
        <p:spPr>
          <a:xfrm>
            <a:off x="299570" y="2176632"/>
            <a:ext cx="5534700" cy="497028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5487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Word"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1" presetClass="entr" presetSubtype="1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7" dur="75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" presetClass="emph" presetSubtype="0" repeatCount="indefinite" accel="48000" autoRev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6" dur="500" fill="hold"/>
                                            <p:tgtEl>
                                              <p:spTgt spid="5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" fill="hold">
                          <p:stCondLst>
                            <p:cond delay="indefinite"/>
                          </p:stCondLst>
                          <p:childTnLst>
                            <p:par>
                              <p:cTn id="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" presetID="21" presetClass="entr" presetSubtype="1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11" dur="75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6" presetClass="emph" presetSubtype="0" repeatCount="indefinite" accel="48000" autoRev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13" dur="500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/>
          <p:bldP spid="14" grpId="0" animBg="1"/>
          <p:bldP spid="2" grpId="0" animBg="1"/>
        </p:bldLst>
      </p:timing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9955F5-C5E3-B6E4-E281-58509435EC5D}"/>
              </a:ext>
            </a:extLst>
          </p:cNvPr>
          <p:cNvSpPr txBox="1"/>
          <p:nvPr/>
        </p:nvSpPr>
        <p:spPr>
          <a:xfrm>
            <a:off x="251589" y="68602"/>
            <a:ext cx="1171479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u="sng" dirty="0"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Meiosis reduces sets, fertilization restores them, and mitosis supports growth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278D8C-4442-65C5-E050-702F88962D1B}"/>
              </a:ext>
            </a:extLst>
          </p:cNvPr>
          <p:cNvSpPr/>
          <p:nvPr/>
        </p:nvSpPr>
        <p:spPr>
          <a:xfrm>
            <a:off x="251589" y="936097"/>
            <a:ext cx="12192000" cy="47941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CCD72C-4836-4F13-0846-FAFD1AD0102B}"/>
              </a:ext>
            </a:extLst>
          </p:cNvPr>
          <p:cNvSpPr txBox="1">
            <a:spLocks/>
          </p:cNvSpPr>
          <p:nvPr/>
        </p:nvSpPr>
        <p:spPr>
          <a:xfrm>
            <a:off x="402805" y="1121900"/>
            <a:ext cx="5693195" cy="3882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Bahnschrift Condensed" panose="020B0502040204020203" pitchFamily="34" charset="0"/>
              </a:rPr>
              <a:t>Meiosis reduces sets, fertilization restores them, and mitosis supports growth.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Bahnschrift Condensed" panose="020B0502040204020203" pitchFamily="34" charset="0"/>
              </a:rPr>
              <a:t>The human cycle alternates diploid adults and haploid gametes. Fertilization restores diploidy, and mitosis supports growth without changing chromosome-set number.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0ED846-377C-EAE1-AE59-835F9318A0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347030"/>
            <a:ext cx="5488026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8173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Word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9955F5-C5E3-B6E4-E281-58509435EC5D}"/>
              </a:ext>
            </a:extLst>
          </p:cNvPr>
          <p:cNvSpPr txBox="1"/>
          <p:nvPr/>
        </p:nvSpPr>
        <p:spPr>
          <a:xfrm>
            <a:off x="-347139" y="42943"/>
            <a:ext cx="128862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100" b="1" u="sng" dirty="0"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growing stage differs across sexual life-cycle patterns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278D8C-4442-65C5-E050-702F88962D1B}"/>
              </a:ext>
            </a:extLst>
          </p:cNvPr>
          <p:cNvSpPr/>
          <p:nvPr/>
        </p:nvSpPr>
        <p:spPr>
          <a:xfrm>
            <a:off x="251589" y="936097"/>
            <a:ext cx="12192000" cy="47941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CCD72C-4836-4F13-0846-FAFD1AD0102B}"/>
              </a:ext>
            </a:extLst>
          </p:cNvPr>
          <p:cNvSpPr txBox="1">
            <a:spLocks/>
          </p:cNvSpPr>
          <p:nvPr/>
        </p:nvSpPr>
        <p:spPr>
          <a:xfrm>
            <a:off x="251588" y="629537"/>
            <a:ext cx="4916759" cy="5175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Bahnschrift Condensed" panose="020B0502040204020203" pitchFamily="34" charset="0"/>
              </a:rPr>
              <a:t>The growing stage differs across sexual life-cycle patterns.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Bahnschrift Condensed" panose="020B0502040204020203" pitchFamily="34" charset="0"/>
              </a:rPr>
              <a:t>Sexual life cycles differ in which stages grow as multicellular organisms. Plants include haploid and diploid generations, while the animal example emphasizes diploid adults.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7D750A-E86B-268E-7820-0830AF6109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0" y="1127729"/>
            <a:ext cx="73152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4911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Word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0ED8DAD-6269-ED91-04EA-04FA6D900DDC}"/>
              </a:ext>
            </a:extLst>
          </p:cNvPr>
          <p:cNvSpPr txBox="1"/>
          <p:nvPr/>
        </p:nvSpPr>
        <p:spPr>
          <a:xfrm>
            <a:off x="990600" y="68602"/>
            <a:ext cx="102679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u="sng" dirty="0"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Thought Questions</a:t>
            </a:r>
            <a:endParaRPr lang="en-US" sz="3600" b="1" u="sng" dirty="0">
              <a:effectLst/>
              <a:latin typeface="Garamond" panose="02020404030301010803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3DB6A4-613D-0B56-E230-8115FCB5C116}"/>
              </a:ext>
            </a:extLst>
          </p:cNvPr>
          <p:cNvSpPr txBox="1"/>
          <p:nvPr/>
        </p:nvSpPr>
        <p:spPr>
          <a:xfrm>
            <a:off x="495866" y="949462"/>
            <a:ext cx="11500663" cy="3364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Garamond" panose="02020404030301010803" pitchFamily="18" charset="0"/>
              </a:rPr>
              <a:t>Q4:</a:t>
            </a:r>
            <a:r>
              <a:rPr lang="en-US" sz="2400" dirty="0">
                <a:latin typeface="Garamond" panose="02020404030301010803" pitchFamily="18" charset="0"/>
              </a:rPr>
              <a:t> </a:t>
            </a:r>
            <a:r>
              <a:rPr lang="en-US" sz="2400" b="1" i="1" dirty="0">
                <a:latin typeface="Garamond" panose="02020404030301010803" pitchFamily="18" charset="0"/>
              </a:rPr>
              <a:t>In animals, what is the ploidy level of the multicellular adult stage, and what type of reproductive cells are produced directly by meiosis?</a:t>
            </a:r>
          </a:p>
          <a:p>
            <a:pPr marL="457200" indent="-457200">
              <a:lnSpc>
                <a:spcPct val="150000"/>
              </a:lnSpc>
              <a:buFont typeface="Arial"/>
              <a:buAutoNum type="alphaUcParenR"/>
            </a:pPr>
            <a:r>
              <a:rPr lang="pt-BR" sz="2400" dirty="0">
                <a:latin typeface="Garamond" panose="02020404030301010803" pitchFamily="18" charset="0"/>
              </a:rPr>
              <a:t>Haploid (n); spores</a:t>
            </a:r>
          </a:p>
          <a:p>
            <a:pPr marL="457200" indent="-457200">
              <a:lnSpc>
                <a:spcPct val="150000"/>
              </a:lnSpc>
              <a:buFont typeface="Arial"/>
              <a:buAutoNum type="alphaUcParenR"/>
            </a:pPr>
            <a:r>
              <a:rPr lang="pt-BR" sz="2400" dirty="0">
                <a:latin typeface="Garamond" panose="02020404030301010803" pitchFamily="18" charset="0"/>
              </a:rPr>
              <a:t>Diploid (2n); spores (n)</a:t>
            </a:r>
          </a:p>
          <a:p>
            <a:pPr marL="457200" indent="-457200">
              <a:lnSpc>
                <a:spcPct val="150000"/>
              </a:lnSpc>
              <a:buFont typeface="Arial"/>
              <a:buAutoNum type="alphaUcParenR"/>
            </a:pPr>
            <a:r>
              <a:rPr lang="pt-BR" sz="2400" dirty="0">
                <a:latin typeface="Garamond" panose="02020404030301010803" pitchFamily="18" charset="0"/>
              </a:rPr>
              <a:t>Diploid (2n); gametes (n)</a:t>
            </a:r>
          </a:p>
          <a:p>
            <a:pPr marL="457200" indent="-457200">
              <a:lnSpc>
                <a:spcPct val="150000"/>
              </a:lnSpc>
              <a:buFont typeface="Arial"/>
              <a:buAutoNum type="alphaUcParenR"/>
            </a:pPr>
            <a:r>
              <a:rPr lang="pt-BR" sz="2400" dirty="0">
                <a:latin typeface="Garamond" panose="02020404030301010803" pitchFamily="18" charset="0"/>
              </a:rPr>
              <a:t>Haploid (n); zygotes (2n)</a:t>
            </a:r>
            <a:endParaRPr lang="en-US" sz="2400" dirty="0">
              <a:latin typeface="Garamond" panose="02020404030301010803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270ED9-0D8B-9F8F-3E73-0193114D2922}"/>
              </a:ext>
            </a:extLst>
          </p:cNvPr>
          <p:cNvSpPr/>
          <p:nvPr/>
        </p:nvSpPr>
        <p:spPr>
          <a:xfrm>
            <a:off x="386535" y="3243471"/>
            <a:ext cx="3877352" cy="556591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1026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Word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9955F5-C5E3-B6E4-E281-58509435EC5D}"/>
              </a:ext>
            </a:extLst>
          </p:cNvPr>
          <p:cNvSpPr txBox="1"/>
          <p:nvPr/>
        </p:nvSpPr>
        <p:spPr>
          <a:xfrm>
            <a:off x="251589" y="65545"/>
            <a:ext cx="117147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u="sng" dirty="0"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One replication supports two successive meiotic divisions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278D8C-4442-65C5-E050-702F88962D1B}"/>
              </a:ext>
            </a:extLst>
          </p:cNvPr>
          <p:cNvSpPr/>
          <p:nvPr/>
        </p:nvSpPr>
        <p:spPr>
          <a:xfrm>
            <a:off x="251589" y="936097"/>
            <a:ext cx="12192000" cy="47941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CCD72C-4836-4F13-0846-FAFD1AD0102B}"/>
              </a:ext>
            </a:extLst>
          </p:cNvPr>
          <p:cNvSpPr txBox="1">
            <a:spLocks/>
          </p:cNvSpPr>
          <p:nvPr/>
        </p:nvSpPr>
        <p:spPr>
          <a:xfrm>
            <a:off x="167383" y="1041967"/>
            <a:ext cx="5609674" cy="3882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Bahnschrift Condensed" panose="020B0502040204020203" pitchFamily="34" charset="0"/>
              </a:rPr>
              <a:t>One replication supports two successive meiotic divisions.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Bahnschrift Condensed" panose="020B0502040204020203" pitchFamily="34" charset="0"/>
              </a:rPr>
              <a:t>Meiosis copies DNA once and divides twice. Homologs separate first, sisters separate second, producing four haploid cells in the general sequence.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522394-3EC7-6563-EC87-3EED1B770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6310" y="1272208"/>
            <a:ext cx="5488026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2226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Word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0ED8DAD-6269-ED91-04EA-04FA6D900DDC}"/>
              </a:ext>
            </a:extLst>
          </p:cNvPr>
          <p:cNvSpPr txBox="1"/>
          <p:nvPr/>
        </p:nvSpPr>
        <p:spPr>
          <a:xfrm>
            <a:off x="990600" y="68602"/>
            <a:ext cx="102679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u="sng" dirty="0"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Thought Questions</a:t>
            </a:r>
            <a:endParaRPr lang="en-US" sz="3600" b="1" u="sng" dirty="0">
              <a:effectLst/>
              <a:latin typeface="Garamond" panose="02020404030301010803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3DB6A4-613D-0B56-E230-8115FCB5C116}"/>
              </a:ext>
            </a:extLst>
          </p:cNvPr>
          <p:cNvSpPr txBox="1"/>
          <p:nvPr/>
        </p:nvSpPr>
        <p:spPr>
          <a:xfrm>
            <a:off x="495867" y="949462"/>
            <a:ext cx="11257416" cy="3364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Garamond" panose="02020404030301010803" pitchFamily="18" charset="0"/>
              </a:rPr>
              <a:t>Q5:</a:t>
            </a:r>
            <a:r>
              <a:rPr lang="en-US" sz="2400" dirty="0">
                <a:latin typeface="Garamond" panose="02020404030301010803" pitchFamily="18" charset="0"/>
              </a:rPr>
              <a:t> </a:t>
            </a:r>
            <a:r>
              <a:rPr lang="en-US" sz="2400" b="1" i="1" dirty="0">
                <a:latin typeface="Garamond" panose="02020404030301010803" pitchFamily="18" charset="0"/>
              </a:rPr>
              <a:t>How many rounds of DNA replication occur in support of the two successive divisions of meiosis?</a:t>
            </a:r>
          </a:p>
          <a:p>
            <a:pPr marL="457200" indent="-457200">
              <a:lnSpc>
                <a:spcPct val="150000"/>
              </a:lnSpc>
              <a:buFont typeface="Arial"/>
              <a:buAutoNum type="alphaUcParenR"/>
            </a:pPr>
            <a:r>
              <a:rPr lang="en-US" sz="2400" dirty="0">
                <a:latin typeface="Garamond" panose="02020404030301010803" pitchFamily="18" charset="0"/>
              </a:rPr>
              <a:t>Two rounds, to prepare for both divisions separately</a:t>
            </a:r>
          </a:p>
          <a:p>
            <a:pPr marL="457200" indent="-457200">
              <a:lnSpc>
                <a:spcPct val="150000"/>
              </a:lnSpc>
              <a:buFont typeface="Arial"/>
              <a:buAutoNum type="alphaUcParenR"/>
            </a:pPr>
            <a:r>
              <a:rPr lang="en-US" sz="2400" dirty="0">
                <a:latin typeface="Garamond" panose="02020404030301010803" pitchFamily="18" charset="0"/>
              </a:rPr>
              <a:t>Three rounds, matching the final number of cell stages</a:t>
            </a:r>
          </a:p>
          <a:p>
            <a:pPr marL="457200" indent="-457200">
              <a:lnSpc>
                <a:spcPct val="150000"/>
              </a:lnSpc>
              <a:buFont typeface="Arial"/>
              <a:buAutoNum type="alphaUcParenR"/>
            </a:pPr>
            <a:r>
              <a:rPr lang="en-US" sz="2400" dirty="0">
                <a:latin typeface="Garamond" panose="02020404030301010803" pitchFamily="18" charset="0"/>
              </a:rPr>
              <a:t>One round, which supports both Meiosis I and Meiosis II</a:t>
            </a:r>
          </a:p>
          <a:p>
            <a:pPr marL="457200" indent="-457200">
              <a:lnSpc>
                <a:spcPct val="150000"/>
              </a:lnSpc>
              <a:buFont typeface="Arial"/>
              <a:buAutoNum type="alphaUcParenR"/>
            </a:pPr>
            <a:r>
              <a:rPr lang="en-US" sz="2400" dirty="0">
                <a:latin typeface="Garamond" panose="02020404030301010803" pitchFamily="18" charset="0"/>
              </a:rPr>
              <a:t>Zero rounds, as meiosis only involves division without replication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270ED9-0D8B-9F8F-3E73-0193114D2922}"/>
              </a:ext>
            </a:extLst>
          </p:cNvPr>
          <p:cNvSpPr/>
          <p:nvPr/>
        </p:nvSpPr>
        <p:spPr>
          <a:xfrm>
            <a:off x="438717" y="3242815"/>
            <a:ext cx="7611979" cy="543994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4664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Word"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1" presetClass="entr" presetSubtype="1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7" dur="75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" presetClass="emph" presetSubtype="0" repeatCount="indefinite" accel="48000" autoRev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6" dur="500" fill="hold"/>
                                            <p:tgtEl>
                                              <p:spTgt spid="5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" fill="hold">
                          <p:stCondLst>
                            <p:cond delay="indefinite"/>
                          </p:stCondLst>
                          <p:childTnLst>
                            <p:par>
                              <p:cTn id="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" presetID="21" presetClass="entr" presetSubtype="1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11" dur="75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6" presetClass="emph" presetSubtype="0" repeatCount="indefinite" accel="48000" autoRev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13" dur="500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/>
          <p:bldP spid="14" grpId="0" animBg="1"/>
          <p:bldP spid="2" grpId="0" animBg="1"/>
        </p:bldLst>
      </p:timing>
    </mc:Fallback>
  </mc:AlternateContent>
</p:sld>
</file>

<file path=ppt/theme/theme1.xml><?xml version="1.0" encoding="utf-8"?>
<a:theme xmlns:a="http://schemas.openxmlformats.org/drawingml/2006/main" name="5_Custom Design">
  <a:themeElements>
    <a:clrScheme name="UWG">
      <a:dk1>
        <a:srgbClr val="0033A1"/>
      </a:dk1>
      <a:lt1>
        <a:srgbClr val="FFFFFF"/>
      </a:lt1>
      <a:dk2>
        <a:srgbClr val="B0B7BC"/>
      </a:dk2>
      <a:lt2>
        <a:srgbClr val="D7D7D7"/>
      </a:lt2>
      <a:accent1>
        <a:srgbClr val="6BABE5"/>
      </a:accent1>
      <a:accent2>
        <a:srgbClr val="DB1A21"/>
      </a:accent2>
      <a:accent3>
        <a:srgbClr val="0033A1"/>
      </a:accent3>
      <a:accent4>
        <a:srgbClr val="53565A"/>
      </a:accent4>
      <a:accent5>
        <a:srgbClr val="96979F"/>
      </a:accent5>
      <a:accent6>
        <a:srgbClr val="BD1719"/>
      </a:accent6>
      <a:hlink>
        <a:srgbClr val="FFFFFF"/>
      </a:hlink>
      <a:folHlink>
        <a:srgbClr val="00336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Custom 2020">
      <a:dk1>
        <a:srgbClr val="474C55"/>
      </a:dk1>
      <a:lt1>
        <a:srgbClr val="FFFFFF"/>
      </a:lt1>
      <a:dk2>
        <a:srgbClr val="737778"/>
      </a:dk2>
      <a:lt2>
        <a:srgbClr val="D7D7D7"/>
      </a:lt2>
      <a:accent1>
        <a:srgbClr val="6BABE5"/>
      </a:accent1>
      <a:accent2>
        <a:srgbClr val="DB1A21"/>
      </a:accent2>
      <a:accent3>
        <a:srgbClr val="0033A1"/>
      </a:accent3>
      <a:accent4>
        <a:srgbClr val="53565A"/>
      </a:accent4>
      <a:accent5>
        <a:srgbClr val="96979F"/>
      </a:accent5>
      <a:accent6>
        <a:srgbClr val="BD1719"/>
      </a:accent6>
      <a:hlink>
        <a:srgbClr val="FFFFFF"/>
      </a:hlink>
      <a:folHlink>
        <a:srgbClr val="00336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35126</TotalTime>
  <Words>642</Words>
  <Application>Microsoft Office PowerPoint</Application>
  <PresentationFormat>Widescreen</PresentationFormat>
  <Paragraphs>74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6" baseType="lpstr">
      <vt:lpstr>Garamond</vt:lpstr>
      <vt:lpstr>ADLaM Display</vt:lpstr>
      <vt:lpstr>Wingdings</vt:lpstr>
      <vt:lpstr>Tw Cen MT</vt:lpstr>
      <vt:lpstr>Bahnschrift Condensed</vt:lpstr>
      <vt:lpstr>Arial Narrow</vt:lpstr>
      <vt:lpstr>Aptos ExtraBold</vt:lpstr>
      <vt:lpstr>Calibri</vt:lpstr>
      <vt:lpstr>Arial</vt:lpstr>
      <vt:lpstr>5_Custom Design</vt:lpstr>
      <vt:lpstr>Custom Design</vt:lpstr>
      <vt:lpstr>Biology Lab 1107: Meiosis and sexual life cycle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PHYS 1111L</dc:title>
  <dc:creator>Alyson Chester</dc:creator>
  <cp:lastModifiedBy>Progress</cp:lastModifiedBy>
  <cp:revision>370</cp:revision>
  <dcterms:created xsi:type="dcterms:W3CDTF">2015-05-11T18:47:14Z</dcterms:created>
  <dcterms:modified xsi:type="dcterms:W3CDTF">2026-10-17T09:30:52Z</dcterms:modified>
</cp:coreProperties>
</file>