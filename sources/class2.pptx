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57" r:id="rId3"/>
    <p:sldId id="428" r:id="rId4"/>
    <p:sldId id="429" r:id="rId5"/>
    <p:sldId id="1010" r:id="rId6"/>
    <p:sldId id="1017" r:id="rId7"/>
    <p:sldId id="1011" r:id="rId8"/>
    <p:sldId id="1012" r:id="rId9"/>
    <p:sldId id="1018" r:id="rId10"/>
    <p:sldId id="1013" r:id="rId11"/>
    <p:sldId id="1019" r:id="rId12"/>
    <p:sldId id="1014" r:id="rId13"/>
    <p:sldId id="1015" r:id="rId14"/>
    <p:sldId id="1021" r:id="rId15"/>
    <p:sldId id="1016" r:id="rId16"/>
    <p:sldId id="1009" r:id="rId17"/>
  </p:sldIdLst>
  <p:sldSz cx="12192000" cy="6858000"/>
  <p:notesSz cx="6858000" cy="9144000"/>
  <p:embeddedFontLst>
    <p:embeddedFont>
      <p:font typeface="ADLaM Display" panose="02010000000000000000" pitchFamily="2" charset="0"/>
      <p:regular r:id="rId19"/>
    </p:embeddedFont>
    <p:embeddedFont>
      <p:font typeface="Aptos ExtraBold" panose="020B0004020202020204" pitchFamily="34" charset="0"/>
      <p:bold r:id="rId20"/>
      <p:boldItalic r:id="rId21"/>
    </p:embeddedFont>
    <p:embeddedFont>
      <p:font typeface="Arial Narrow" panose="020B0606020202030204" pitchFamily="34" charset="0"/>
      <p:regular r:id="rId22"/>
      <p:bold r:id="rId23"/>
      <p:italic r:id="rId24"/>
      <p:boldItalic r:id="rId25"/>
    </p:embeddedFont>
    <p:embeddedFont>
      <p:font typeface="Bahnschrift Condensed" panose="020B0502040204020203" pitchFamily="34" charset="0"/>
      <p:regular r:id="rId26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Garamond" panose="02020404030301010803" pitchFamily="18" charset="0"/>
      <p:regular r:id="rId32"/>
      <p:bold r:id="rId33"/>
      <p:italic r:id="rId34"/>
    </p:embeddedFont>
    <p:embeddedFont>
      <p:font typeface="Tw Cen MT" panose="020B0602020104020603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6" roundtripDataSignature="AMtx7mjA10f30RqLoabvBKbEVDEwMx6H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1000B"/>
    <a:srgbClr val="3A3C3C"/>
    <a:srgbClr val="262626"/>
    <a:srgbClr val="6BA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2647" autoAdjust="0"/>
  </p:normalViewPr>
  <p:slideViewPr>
    <p:cSldViewPr snapToGrid="0">
      <p:cViewPr varScale="1">
        <p:scale>
          <a:sx n="64" d="100"/>
          <a:sy n="64" d="100"/>
        </p:scale>
        <p:origin x="716" y="32"/>
      </p:cViewPr>
      <p:guideLst>
        <p:guide orient="horz" pos="211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89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87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90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86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917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32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2700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7443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906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826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95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7996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9882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8799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3170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468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4376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972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title"/>
          </p:nvPr>
        </p:nvSpPr>
        <p:spPr>
          <a:xfrm>
            <a:off x="-125691" y="4431694"/>
            <a:ext cx="12418244" cy="147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Narrow"/>
              <a:buNone/>
              <a:defRPr b="0" i="0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body" idx="1"/>
          </p:nvPr>
        </p:nvSpPr>
        <p:spPr>
          <a:xfrm>
            <a:off x="609600" y="6267450"/>
            <a:ext cx="10972800" cy="4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440"/>
              </a:spcBef>
              <a:spcAft>
                <a:spcPts val="0"/>
              </a:spcAft>
              <a:buClr>
                <a:srgbClr val="474C55"/>
              </a:buClr>
              <a:buSzPts val="2200"/>
              <a:buNone/>
              <a:defRPr sz="2200" cap="none">
                <a:solidFill>
                  <a:srgbClr val="474C55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474C55"/>
              </a:buClr>
              <a:buSzPts val="2000"/>
              <a:buNone/>
              <a:defRPr sz="2000">
                <a:solidFill>
                  <a:srgbClr val="474C55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29497"/>
              </a:buClr>
              <a:buSzPts val="1800"/>
              <a:buNone/>
              <a:defRPr sz="1800">
                <a:solidFill>
                  <a:srgbClr val="929497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29497"/>
              </a:buClr>
              <a:buSzPts val="1600"/>
              <a:buNone/>
              <a:defRPr sz="1600">
                <a:solidFill>
                  <a:srgbClr val="929497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29497"/>
              </a:buClr>
              <a:buSzPts val="1400"/>
              <a:buNone/>
              <a:defRPr sz="1400">
                <a:solidFill>
                  <a:srgbClr val="929497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963084" y="4425719"/>
            <a:ext cx="10972800" cy="1522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 Narrow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05509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15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Arial"/>
              <a:buChar char="•"/>
              <a:defRPr sz="2800">
                <a:solidFill>
                  <a:schemeClr val="accent4"/>
                </a:solidFill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–"/>
              <a:defRPr sz="2400">
                <a:solidFill>
                  <a:schemeClr val="accent4"/>
                </a:solidFill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•"/>
              <a:defRPr sz="2000">
                <a:solidFill>
                  <a:schemeClr val="accent4"/>
                </a:solidFill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–"/>
              <a:defRPr sz="1800">
                <a:solidFill>
                  <a:schemeClr val="accent4"/>
                </a:solidFill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»"/>
              <a:defRPr sz="1800">
                <a:solidFill>
                  <a:schemeClr val="accent4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15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53565A"/>
              </a:buClr>
              <a:buSzPts val="2800"/>
              <a:buFont typeface="Arial"/>
              <a:buChar char="•"/>
              <a:defRPr sz="2800">
                <a:solidFill>
                  <a:srgbClr val="53565A"/>
                </a:solidFill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53565A"/>
              </a:buClr>
              <a:buSzPts val="2400"/>
              <a:buFont typeface="Arial"/>
              <a:buChar char="–"/>
              <a:defRPr sz="2400">
                <a:solidFill>
                  <a:srgbClr val="53565A"/>
                </a:solidFill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3565A"/>
              </a:buClr>
              <a:buSzPts val="2000"/>
              <a:buFont typeface="Arial"/>
              <a:buChar char="•"/>
              <a:defRPr sz="2000">
                <a:solidFill>
                  <a:srgbClr val="53565A"/>
                </a:solidFill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3565A"/>
              </a:buClr>
              <a:buSzPts val="1800"/>
              <a:buFont typeface="Arial"/>
              <a:buChar char="–"/>
              <a:defRPr sz="1800">
                <a:solidFill>
                  <a:srgbClr val="53565A"/>
                </a:solidFill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53565A"/>
              </a:buClr>
              <a:buSzPts val="1800"/>
              <a:buFont typeface="Arial"/>
              <a:buChar char="»"/>
              <a:defRPr sz="1800">
                <a:solidFill>
                  <a:srgbClr val="53565A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 Narrow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7592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Arial Narrow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609600" y="2174875"/>
            <a:ext cx="5386917" cy="364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3860" algn="l">
              <a:spcBef>
                <a:spcPts val="480"/>
              </a:spcBef>
              <a:spcAft>
                <a:spcPts val="0"/>
              </a:spcAft>
              <a:buClr>
                <a:srgbClr val="D9192C"/>
              </a:buClr>
              <a:buSzPts val="2760"/>
              <a:buFont typeface="Arial"/>
              <a:buChar char="•"/>
              <a:defRPr sz="2400">
                <a:solidFill>
                  <a:srgbClr val="53565A"/>
                </a:solidFill>
              </a:defRPr>
            </a:lvl1pPr>
            <a:lvl2pPr marL="914400" lvl="1" indent="-374650" algn="l">
              <a:spcBef>
                <a:spcPts val="400"/>
              </a:spcBef>
              <a:spcAft>
                <a:spcPts val="0"/>
              </a:spcAft>
              <a:buClr>
                <a:srgbClr val="D9192C"/>
              </a:buClr>
              <a:buSzPts val="2300"/>
              <a:buFont typeface="Arial"/>
              <a:buChar char="•"/>
              <a:defRPr sz="2000">
                <a:solidFill>
                  <a:srgbClr val="53565A"/>
                </a:solidFill>
              </a:defRPr>
            </a:lvl2pPr>
            <a:lvl3pPr marL="1371600" lvl="2" indent="-360044" algn="l">
              <a:spcBef>
                <a:spcPts val="360"/>
              </a:spcBef>
              <a:spcAft>
                <a:spcPts val="0"/>
              </a:spcAft>
              <a:buClr>
                <a:srgbClr val="D9192C"/>
              </a:buClr>
              <a:buSzPts val="2070"/>
              <a:buFont typeface="Arial"/>
              <a:buChar char="•"/>
              <a:defRPr sz="1800">
                <a:solidFill>
                  <a:srgbClr val="53565A"/>
                </a:solidFill>
              </a:defRPr>
            </a:lvl3pPr>
            <a:lvl4pPr marL="1828800" lvl="3" indent="-345439" algn="l">
              <a:spcBef>
                <a:spcPts val="320"/>
              </a:spcBef>
              <a:spcAft>
                <a:spcPts val="0"/>
              </a:spcAft>
              <a:buClr>
                <a:srgbClr val="D9192C"/>
              </a:buClr>
              <a:buSzPts val="1840"/>
              <a:buFont typeface="Arial"/>
              <a:buChar char="•"/>
              <a:defRPr sz="1600">
                <a:solidFill>
                  <a:srgbClr val="53565A"/>
                </a:solidFill>
              </a:defRPr>
            </a:lvl4pPr>
            <a:lvl5pPr marL="2286000" lvl="4" indent="-345439" algn="l">
              <a:spcBef>
                <a:spcPts val="320"/>
              </a:spcBef>
              <a:spcAft>
                <a:spcPts val="0"/>
              </a:spcAft>
              <a:buClr>
                <a:srgbClr val="D9192C"/>
              </a:buClr>
              <a:buSzPts val="1840"/>
              <a:buFont typeface="Arial"/>
              <a:buChar char="•"/>
              <a:defRPr sz="1600">
                <a:solidFill>
                  <a:srgbClr val="53565A"/>
                </a:solidFill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2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520"/>
              </a:spcBef>
              <a:spcAft>
                <a:spcPts val="0"/>
              </a:spcAft>
              <a:buClr>
                <a:srgbClr val="D9192C"/>
              </a:buClr>
              <a:buSzPts val="2600"/>
              <a:buNone/>
              <a:defRPr sz="2600" b="0" i="0" cap="none">
                <a:solidFill>
                  <a:srgbClr val="D9192C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74C55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74C55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74C55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74C55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3"/>
          </p:nvPr>
        </p:nvSpPr>
        <p:spPr>
          <a:xfrm>
            <a:off x="6193368" y="2174875"/>
            <a:ext cx="5389033" cy="364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3860" algn="l">
              <a:spcBef>
                <a:spcPts val="480"/>
              </a:spcBef>
              <a:spcAft>
                <a:spcPts val="0"/>
              </a:spcAft>
              <a:buClr>
                <a:srgbClr val="D9192C"/>
              </a:buClr>
              <a:buSzPts val="2760"/>
              <a:buFont typeface="Arial"/>
              <a:buChar char="•"/>
              <a:defRPr sz="2400">
                <a:solidFill>
                  <a:srgbClr val="53565A"/>
                </a:solidFill>
              </a:defRPr>
            </a:lvl1pPr>
            <a:lvl2pPr marL="914400" lvl="1" indent="-374650" algn="l">
              <a:spcBef>
                <a:spcPts val="400"/>
              </a:spcBef>
              <a:spcAft>
                <a:spcPts val="0"/>
              </a:spcAft>
              <a:buClr>
                <a:srgbClr val="D9192C"/>
              </a:buClr>
              <a:buSzPts val="2300"/>
              <a:buFont typeface="Arial"/>
              <a:buChar char="•"/>
              <a:defRPr sz="2000">
                <a:solidFill>
                  <a:srgbClr val="53565A"/>
                </a:solidFill>
              </a:defRPr>
            </a:lvl2pPr>
            <a:lvl3pPr marL="1371600" lvl="2" indent="-360044" algn="l">
              <a:spcBef>
                <a:spcPts val="360"/>
              </a:spcBef>
              <a:spcAft>
                <a:spcPts val="0"/>
              </a:spcAft>
              <a:buClr>
                <a:srgbClr val="D9192C"/>
              </a:buClr>
              <a:buSzPts val="2070"/>
              <a:buFont typeface="Arial"/>
              <a:buChar char="•"/>
              <a:defRPr sz="1800">
                <a:solidFill>
                  <a:srgbClr val="53565A"/>
                </a:solidFill>
              </a:defRPr>
            </a:lvl3pPr>
            <a:lvl4pPr marL="1828800" lvl="3" indent="-345439" algn="l">
              <a:spcBef>
                <a:spcPts val="320"/>
              </a:spcBef>
              <a:spcAft>
                <a:spcPts val="0"/>
              </a:spcAft>
              <a:buClr>
                <a:srgbClr val="D9192C"/>
              </a:buClr>
              <a:buSzPts val="1840"/>
              <a:buFont typeface="Arial"/>
              <a:buChar char="•"/>
              <a:defRPr sz="1600">
                <a:solidFill>
                  <a:srgbClr val="53565A"/>
                </a:solidFill>
              </a:defRPr>
            </a:lvl4pPr>
            <a:lvl5pPr marL="2286000" lvl="4" indent="-345439" algn="l">
              <a:spcBef>
                <a:spcPts val="320"/>
              </a:spcBef>
              <a:spcAft>
                <a:spcPts val="0"/>
              </a:spcAft>
              <a:buClr>
                <a:srgbClr val="D9192C"/>
              </a:buClr>
              <a:buSzPts val="1840"/>
              <a:buFont typeface="Arial"/>
              <a:buChar char="•"/>
              <a:defRPr sz="1600">
                <a:solidFill>
                  <a:srgbClr val="53565A"/>
                </a:solidFill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4"/>
          </p:nvPr>
        </p:nvSpPr>
        <p:spPr>
          <a:xfrm>
            <a:off x="609601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520"/>
              </a:spcBef>
              <a:spcAft>
                <a:spcPts val="0"/>
              </a:spcAft>
              <a:buClr>
                <a:srgbClr val="D9192C"/>
              </a:buClr>
              <a:buSzPts val="2600"/>
              <a:buNone/>
              <a:defRPr sz="2600" b="0" i="0" cap="none">
                <a:solidFill>
                  <a:srgbClr val="D9192C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474C55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474C55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474C55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474C55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882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9A20-91A0-DE40-9117-91AB084A38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 sz="3600" b="1">
                <a:latin typeface="Aptos ExtraBold" panose="020B0004020202020204" pitchFamily="34" charset="0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995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4F8A-1A7E-2557-B43B-F9129903B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62708-8D2E-9C1D-D5CC-86E08F436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E863E-0B37-79E0-3B80-B0E7CA7FD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89966-76B6-4FFE-898C-7E6F8E66CC1D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E2EE5-6CD6-F189-CD26-7C9DEC828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153A-C90F-198B-4667-3C78F3C5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48EFD-20DD-4B11-865F-DD77DFE12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28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DB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8"/>
          <p:cNvSpPr/>
          <p:nvPr/>
        </p:nvSpPr>
        <p:spPr>
          <a:xfrm>
            <a:off x="-123152" y="6022106"/>
            <a:ext cx="12416752" cy="10575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8"/>
          <p:cNvSpPr/>
          <p:nvPr/>
        </p:nvSpPr>
        <p:spPr>
          <a:xfrm>
            <a:off x="-110837" y="5994395"/>
            <a:ext cx="12416752" cy="45719"/>
          </a:xfrm>
          <a:prstGeom prst="rect">
            <a:avLst/>
          </a:prstGeom>
          <a:solidFill>
            <a:srgbClr val="7377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8"/>
          <p:cNvSpPr/>
          <p:nvPr/>
        </p:nvSpPr>
        <p:spPr>
          <a:xfrm>
            <a:off x="-110837" y="5898944"/>
            <a:ext cx="12416752" cy="45719"/>
          </a:xfrm>
          <a:prstGeom prst="rect">
            <a:avLst/>
          </a:prstGeom>
          <a:solidFill>
            <a:srgbClr val="D919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8"/>
          <p:cNvSpPr/>
          <p:nvPr/>
        </p:nvSpPr>
        <p:spPr>
          <a:xfrm>
            <a:off x="-129689" y="-150830"/>
            <a:ext cx="12416752" cy="6072654"/>
          </a:xfrm>
          <a:prstGeom prst="rect">
            <a:avLst/>
          </a:prstGeom>
          <a:solidFill>
            <a:srgbClr val="D9192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4853" y="94484"/>
            <a:ext cx="3902294" cy="416244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D9192C"/>
              </a:buClr>
              <a:buSzPts val="5400"/>
              <a:buFont typeface="Arial Narrow"/>
              <a:buNone/>
              <a:defRPr sz="5400" b="0" i="0" u="none" strike="noStrike" cap="none">
                <a:solidFill>
                  <a:srgbClr val="D9192C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474C55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474C55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474C5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474C55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474C55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474C5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294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0"/>
          <p:cNvSpPr txBox="1"/>
          <p:nvPr/>
        </p:nvSpPr>
        <p:spPr>
          <a:xfrm>
            <a:off x="360623" y="64387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10/5/21</a:t>
            </a:r>
            <a:endParaRPr sz="1200" b="0" i="0" u="none" strike="noStrike" cap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"/>
          <p:cNvSpPr txBox="1"/>
          <p:nvPr/>
        </p:nvSpPr>
        <p:spPr>
          <a:xfrm>
            <a:off x="9046649" y="64387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0"/>
          <p:cNvSpPr/>
          <p:nvPr/>
        </p:nvSpPr>
        <p:spPr>
          <a:xfrm>
            <a:off x="-17161" y="6025992"/>
            <a:ext cx="12416752" cy="8358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0"/>
          <p:cNvSpPr/>
          <p:nvPr/>
        </p:nvSpPr>
        <p:spPr>
          <a:xfrm>
            <a:off x="-110837" y="5994395"/>
            <a:ext cx="12416752" cy="45719"/>
          </a:xfrm>
          <a:prstGeom prst="rect">
            <a:avLst/>
          </a:prstGeom>
          <a:solidFill>
            <a:srgbClr val="7377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0"/>
          <p:cNvSpPr/>
          <p:nvPr/>
        </p:nvSpPr>
        <p:spPr>
          <a:xfrm>
            <a:off x="-110837" y="5898944"/>
            <a:ext cx="12416752" cy="45719"/>
          </a:xfrm>
          <a:prstGeom prst="rect">
            <a:avLst/>
          </a:prstGeom>
          <a:solidFill>
            <a:srgbClr val="D919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62082" y="5944665"/>
            <a:ext cx="5267836" cy="99562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EEF55B7-81A8-2E1F-9949-F378BAC9F94F}"/>
              </a:ext>
            </a:extLst>
          </p:cNvPr>
          <p:cNvSpPr txBox="1">
            <a:spLocks/>
          </p:cNvSpPr>
          <p:nvPr userDrawn="1"/>
        </p:nvSpPr>
        <p:spPr>
          <a:xfrm>
            <a:off x="10863943" y="6143846"/>
            <a:ext cx="718457" cy="5776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3600" b="1" i="0" u="none" strike="noStrike" cap="none">
                <a:solidFill>
                  <a:srgbClr val="000000"/>
                </a:solidFill>
                <a:latin typeface="Aptos ExtraBold" panose="020B00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z="3200" smtClean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pPr/>
              <a:t>‹#›</a:t>
            </a:fld>
            <a:endParaRPr lang="en-US" sz="3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354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8" r:id="rId4"/>
    <p:sldLayoutId id="2147483659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>
            <a:spLocks noGrp="1"/>
          </p:cNvSpPr>
          <p:nvPr>
            <p:ph type="title"/>
          </p:nvPr>
        </p:nvSpPr>
        <p:spPr>
          <a:xfrm>
            <a:off x="-327991" y="4273577"/>
            <a:ext cx="12746235" cy="147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Biology Lab 1107: Meiosis and sexual life cycle</a:t>
            </a:r>
            <a:endParaRPr dirty="0"/>
          </a:p>
        </p:txBody>
      </p:sp>
      <p:sp>
        <p:nvSpPr>
          <p:cNvPr id="66" name="Google Shape;66;p1"/>
          <p:cNvSpPr txBox="1">
            <a:spLocks noGrp="1"/>
          </p:cNvSpPr>
          <p:nvPr>
            <p:ph type="body" idx="1"/>
          </p:nvPr>
        </p:nvSpPr>
        <p:spPr>
          <a:xfrm>
            <a:off x="609600" y="6267450"/>
            <a:ext cx="10972800" cy="4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74C55"/>
              </a:buClr>
              <a:buSzPts val="2200"/>
              <a:buNone/>
            </a:pPr>
            <a:r>
              <a:rPr lang="en-US" dirty="0"/>
              <a:t>BIO 1107 | Principles of Biology 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A8D99-56D8-31C1-0DE3-15F95FFFEF99}"/>
              </a:ext>
            </a:extLst>
          </p:cNvPr>
          <p:cNvSpPr txBox="1"/>
          <p:nvPr/>
        </p:nvSpPr>
        <p:spPr>
          <a:xfrm>
            <a:off x="2946919" y="5385501"/>
            <a:ext cx="62981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u="sng" dirty="0">
                <a:solidFill>
                  <a:schemeClr val="bg1"/>
                </a:solidFill>
                <a:latin typeface="Tw Cen MT" panose="020B0602020104020603" pitchFamily="34" charset="0"/>
                <a:cs typeface="Times New Roman"/>
              </a:rPr>
              <a:t>Instructor</a:t>
            </a:r>
            <a:r>
              <a:rPr lang="en-US" sz="3200" dirty="0">
                <a:solidFill>
                  <a:schemeClr val="bg1"/>
                </a:solidFill>
                <a:latin typeface="Tw Cen MT" panose="020B0602020104020603" pitchFamily="34" charset="0"/>
                <a:cs typeface="Times New Roman"/>
              </a:rPr>
              <a:t>: Mrs. Oyawale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2E4045-ABD6-0B6A-E5F1-F27541F6A5F2}"/>
              </a:ext>
            </a:extLst>
          </p:cNvPr>
          <p:cNvSpPr txBox="1"/>
          <p:nvPr/>
        </p:nvSpPr>
        <p:spPr>
          <a:xfrm>
            <a:off x="72887" y="1489053"/>
            <a:ext cx="1204622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Meiosis and sexual life cycle</a:t>
            </a:r>
            <a:r>
              <a:rPr lang="en-US" sz="6600" b="1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6600" b="1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2</a:t>
            </a:r>
          </a:p>
        </p:txBody>
      </p:sp>
    </p:spTree>
    <p:extLst>
      <p:ext uri="{BB962C8B-B14F-4D97-AF65-F5344CB8AC3E}">
        <p14:creationId xmlns:p14="http://schemas.microsoft.com/office/powerpoint/2010/main" val="2964711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251589" y="38061"/>
            <a:ext cx="11714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Meiosis I separates homologs while sisters remain joined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251589" y="816828"/>
            <a:ext cx="4777611" cy="388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Meiosis I separates homologs while sisters remain joined.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During meiosis I, homologs pair, line up and separate. Each resulting cell is haploid, but its chromosomes still contain joined sister chromatids.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3AC0B-70C7-FC98-9BFA-58E1F9F62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395" y="1127729"/>
            <a:ext cx="6867214" cy="343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45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251589" y="29817"/>
            <a:ext cx="11714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second division separates sisters without another DNA replication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866523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343170" y="675914"/>
            <a:ext cx="4825178" cy="517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The second division separates sisters without another DNA replication.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Meiosis II separates the sister chromatids within each haploid cell. The general result is four haploid cells with unduplicated chromosomes.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F3430-2156-DDD5-36A7-3D4690702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266" y="1197303"/>
            <a:ext cx="7046120" cy="352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85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ED8DAD-6269-ED91-04EA-04FA6D900DDC}"/>
              </a:ext>
            </a:extLst>
          </p:cNvPr>
          <p:cNvSpPr txBox="1"/>
          <p:nvPr/>
        </p:nvSpPr>
        <p:spPr>
          <a:xfrm>
            <a:off x="990600" y="68602"/>
            <a:ext cx="102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Thought Questions</a:t>
            </a:r>
            <a:endParaRPr lang="en-US" sz="3600" b="1" u="sng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B6A4-613D-0B56-E230-8115FCB5C116}"/>
              </a:ext>
            </a:extLst>
          </p:cNvPr>
          <p:cNvSpPr txBox="1"/>
          <p:nvPr/>
        </p:nvSpPr>
        <p:spPr>
          <a:xfrm>
            <a:off x="495867" y="949462"/>
            <a:ext cx="11580176" cy="281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</a:rPr>
              <a:t>Q1: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lang="en-US" sz="2400" b="1" i="1" dirty="0">
                <a:latin typeface="Garamond" panose="02020404030301010803" pitchFamily="18" charset="0"/>
              </a:rPr>
              <a:t>Does DNA replication occur immediately before Meiosis II begins?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Yes, complete DNA replication occurs to ensure all chromosomes are doubled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No, Meiosis II takes place without another round of DNA replication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Yes, but only for sex chromosomes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Only partial replication happens to reduce chromosome number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0ED9-0D8B-9F8F-3E73-0193114D2922}"/>
              </a:ext>
            </a:extLst>
          </p:cNvPr>
          <p:cNvSpPr/>
          <p:nvPr/>
        </p:nvSpPr>
        <p:spPr>
          <a:xfrm>
            <a:off x="420211" y="2184578"/>
            <a:ext cx="9111414" cy="47700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7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500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3" dur="5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4" grpId="0" animBg="1"/>
          <p:bldP spid="2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-334151" y="68602"/>
            <a:ext cx="1288627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7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Crossing over rearranges alleles within chromosomes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200252" y="576433"/>
            <a:ext cx="5057547" cy="517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Crossing over rearranges alleles within chromosomes.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Crossing over exchanges corresponding DNA between </a:t>
            </a:r>
            <a:r>
              <a:rPr lang="en-US" sz="2800" dirty="0" err="1">
                <a:latin typeface="Bahnschrift Condensed" panose="020B0502040204020203" pitchFamily="34" charset="0"/>
              </a:rPr>
              <a:t>nonsister</a:t>
            </a:r>
            <a:r>
              <a:rPr lang="en-US" sz="2800" dirty="0">
                <a:latin typeface="Bahnschrift Condensed" panose="020B0502040204020203" pitchFamily="34" charset="0"/>
              </a:rPr>
              <a:t> chromatids in prophase I. The recombinant products carry new combinations of maternal and paternal DNA.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96461-948C-2651-730C-DE00AB059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81" y="1234262"/>
            <a:ext cx="548802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57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-334151" y="68602"/>
            <a:ext cx="128862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Mitosis preserves set number, while meiosis reduces 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152688" y="989388"/>
            <a:ext cx="5642315" cy="388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Mitosis preserves set number, while meiosis reduces it.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Mitosis produces two generally matching cells while preserving chromosome sets. Meiosis uses two divisions to produce four haploid products with genetic variation.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121B7-19EF-7184-75F2-F515600CA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999" y="1214518"/>
            <a:ext cx="548802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ED8DAD-6269-ED91-04EA-04FA6D900DDC}"/>
              </a:ext>
            </a:extLst>
          </p:cNvPr>
          <p:cNvSpPr txBox="1"/>
          <p:nvPr/>
        </p:nvSpPr>
        <p:spPr>
          <a:xfrm>
            <a:off x="990600" y="68602"/>
            <a:ext cx="102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Thought Questions</a:t>
            </a:r>
            <a:endParaRPr lang="en-US" sz="3600" b="1" u="sng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B6A4-613D-0B56-E230-8115FCB5C116}"/>
              </a:ext>
            </a:extLst>
          </p:cNvPr>
          <p:cNvSpPr txBox="1"/>
          <p:nvPr/>
        </p:nvSpPr>
        <p:spPr>
          <a:xfrm>
            <a:off x="495867" y="949462"/>
            <a:ext cx="11257416" cy="391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</a:rPr>
              <a:t>Q2: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lang="en-US" sz="2400" b="1" i="1" dirty="0">
                <a:latin typeface="Garamond" panose="02020404030301010803" pitchFamily="18" charset="0"/>
              </a:rPr>
              <a:t>What happens to the chromosome set number in a cell undergoing mitosis compared to one undergoing meiosis?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Mitosis halves the chromosome set number, while meiosis preserves it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Mitosis preserves the chromosome set number (diploid to diploid), while meiosis halves it (diploid to haploid)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Both mitosis and meiosis halve the chromosome set number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Both mitosis and meiosis preserve the chromosome set number.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0ED9-0D8B-9F8F-3E73-0193114D2922}"/>
              </a:ext>
            </a:extLst>
          </p:cNvPr>
          <p:cNvSpPr/>
          <p:nvPr/>
        </p:nvSpPr>
        <p:spPr>
          <a:xfrm>
            <a:off x="495866" y="2631556"/>
            <a:ext cx="11391333" cy="118507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27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500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3" dur="5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4" grpId="0" animBg="1"/>
          <p:bldP spid="2" grpId="0" animBg="1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-334151" y="68602"/>
            <a:ext cx="128862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Independent assortment generates many combinations of whole chromosomes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332021" y="955713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332021" y="892987"/>
            <a:ext cx="5353162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Independent assortment generates many combinations of whole chromosomes.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Each homologous pair orients independently. Two pairs allow four possible combinations, and 23 human pairs allow about 8.4 million before counting crossing over.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0DD8C-2F45-50F2-0469-13E02EA71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8717"/>
            <a:ext cx="548802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98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ED8DAD-6269-ED91-04EA-04FA6D900DDC}"/>
              </a:ext>
            </a:extLst>
          </p:cNvPr>
          <p:cNvSpPr txBox="1"/>
          <p:nvPr/>
        </p:nvSpPr>
        <p:spPr>
          <a:xfrm>
            <a:off x="990600" y="68602"/>
            <a:ext cx="102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Thought Questions</a:t>
            </a:r>
            <a:endParaRPr lang="en-US" sz="3600" b="1" u="sng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B6A4-613D-0B56-E230-8115FCB5C116}"/>
              </a:ext>
            </a:extLst>
          </p:cNvPr>
          <p:cNvSpPr txBox="1"/>
          <p:nvPr/>
        </p:nvSpPr>
        <p:spPr>
          <a:xfrm>
            <a:off x="495867" y="949462"/>
            <a:ext cx="11257416" cy="336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</a:rPr>
              <a:t>Q3: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lang="en-US" sz="2400" b="1" i="1" dirty="0">
                <a:latin typeface="Garamond" panose="02020404030301010803" pitchFamily="18" charset="0"/>
              </a:rPr>
              <a:t>What primary outcome is generated by the independent assortment of whole chromosomes during meiosis?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The exact replication of maternal chromosomes only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The permanent fusion of homologous chromosome pairs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A large variety of distinct whole-chromosome combinations in gametes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A reduction in the total number of chromosomes in somatic cells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0ED9-0D8B-9F8F-3E73-0193114D2922}"/>
              </a:ext>
            </a:extLst>
          </p:cNvPr>
          <p:cNvSpPr/>
          <p:nvPr/>
        </p:nvSpPr>
        <p:spPr>
          <a:xfrm>
            <a:off x="438717" y="3276563"/>
            <a:ext cx="9261874" cy="49702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48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500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3" dur="5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4" grpId="0" animBg="1"/>
          <p:bldP spid="2" grpId="0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251589" y="68602"/>
            <a:ext cx="11714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 fertilization multiplies the assortment possibilities of two gametes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225614" y="981910"/>
            <a:ext cx="5391708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Random fertilization multiplies the assortment possibilities of two gametes.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Combining sperm and egg possibilities gives about 70 trillion possible human zygote combinations. That estimate still excludes the extra variation from crossing over.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9CC5E-C5BC-6EAB-8757-C3D315EB4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91"/>
          <a:stretch/>
        </p:blipFill>
        <p:spPr>
          <a:xfrm>
            <a:off x="5470488" y="1540564"/>
            <a:ext cx="6495898" cy="346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17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-347139" y="42943"/>
            <a:ext cx="128862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1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 alleles and new combinations play different roles in variation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115957" y="3870875"/>
            <a:ext cx="12076043" cy="1943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New alleles and new combinations play different roles in variation.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Mutation supplies new alleles, and sexual reproduction reshuffles them. The resulting heritable variation provides material on which natural selection can act.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0B783-B0F8-95AC-7C4A-380B9F454E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541" b="8398"/>
          <a:stretch/>
        </p:blipFill>
        <p:spPr>
          <a:xfrm>
            <a:off x="2325757" y="821664"/>
            <a:ext cx="7315200" cy="296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91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ED8DAD-6269-ED91-04EA-04FA6D900DDC}"/>
              </a:ext>
            </a:extLst>
          </p:cNvPr>
          <p:cNvSpPr txBox="1"/>
          <p:nvPr/>
        </p:nvSpPr>
        <p:spPr>
          <a:xfrm>
            <a:off x="990600" y="68602"/>
            <a:ext cx="102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Thought Questions</a:t>
            </a:r>
            <a:endParaRPr lang="en-US" sz="3600" b="1" u="sng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B6A4-613D-0B56-E230-8115FCB5C116}"/>
              </a:ext>
            </a:extLst>
          </p:cNvPr>
          <p:cNvSpPr txBox="1"/>
          <p:nvPr/>
        </p:nvSpPr>
        <p:spPr>
          <a:xfrm>
            <a:off x="495866" y="949462"/>
            <a:ext cx="11500663" cy="336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</a:rPr>
              <a:t>Q4: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lang="en-US" sz="2400" b="1" i="1" dirty="0">
                <a:latin typeface="Garamond" panose="02020404030301010803" pitchFamily="18" charset="0"/>
              </a:rPr>
              <a:t>Why is heritable variation described as the "material" for natural selection?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Because natural selection requires phenotypic differences that can be passed down to offspring to favor certain variants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Because it prevents any future mutations from occurring in the population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Because it ensures every individual in the population is genetically identical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Because it completely replaces the need for sexual reproduction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0ED9-0D8B-9F8F-3E73-0193114D2922}"/>
              </a:ext>
            </a:extLst>
          </p:cNvPr>
          <p:cNvSpPr/>
          <p:nvPr/>
        </p:nvSpPr>
        <p:spPr>
          <a:xfrm>
            <a:off x="406412" y="1633332"/>
            <a:ext cx="10852137" cy="107011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02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55F5-C5E3-B6E4-E281-58509435EC5D}"/>
              </a:ext>
            </a:extLst>
          </p:cNvPr>
          <p:cNvSpPr txBox="1"/>
          <p:nvPr/>
        </p:nvSpPr>
        <p:spPr>
          <a:xfrm>
            <a:off x="251589" y="65545"/>
            <a:ext cx="117147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Stable chromosome number and genetic variety can occur together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278D8C-4442-65C5-E050-702F88962D1B}"/>
              </a:ext>
            </a:extLst>
          </p:cNvPr>
          <p:cNvSpPr/>
          <p:nvPr/>
        </p:nvSpPr>
        <p:spPr>
          <a:xfrm>
            <a:off x="251589" y="936097"/>
            <a:ext cx="12192000" cy="4794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CD72C-4836-4F13-0846-FAFD1AD0102B}"/>
              </a:ext>
            </a:extLst>
          </p:cNvPr>
          <p:cNvSpPr txBox="1">
            <a:spLocks/>
          </p:cNvSpPr>
          <p:nvPr/>
        </p:nvSpPr>
        <p:spPr>
          <a:xfrm>
            <a:off x="251589" y="936097"/>
            <a:ext cx="5609674" cy="452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Stable chromosome number and genetic variety can occur together.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Bahnschrift Condensed" panose="020B0502040204020203" pitchFamily="34" charset="0"/>
              </a:rPr>
              <a:t>Meiosis and fertilization balance chromosome sets. Assortment, crossing over and random fertilization create variety, while mutation supplies new alleles.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7592C-7453-4EE2-A373-DF2F91C83D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90"/>
          <a:stretch/>
        </p:blipFill>
        <p:spPr>
          <a:xfrm>
            <a:off x="6108987" y="1341783"/>
            <a:ext cx="5488026" cy="342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22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ED8DAD-6269-ED91-04EA-04FA6D900DDC}"/>
              </a:ext>
            </a:extLst>
          </p:cNvPr>
          <p:cNvSpPr txBox="1"/>
          <p:nvPr/>
        </p:nvSpPr>
        <p:spPr>
          <a:xfrm>
            <a:off x="990600" y="68602"/>
            <a:ext cx="1026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Thought Questions</a:t>
            </a:r>
            <a:endParaRPr lang="en-US" sz="3600" b="1" u="sng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DB6A4-613D-0B56-E230-8115FCB5C116}"/>
              </a:ext>
            </a:extLst>
          </p:cNvPr>
          <p:cNvSpPr txBox="1"/>
          <p:nvPr/>
        </p:nvSpPr>
        <p:spPr>
          <a:xfrm>
            <a:off x="495867" y="949462"/>
            <a:ext cx="11257416" cy="336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Garamond" panose="02020404030301010803" pitchFamily="18" charset="0"/>
              </a:rPr>
              <a:t>Q5:</a:t>
            </a:r>
            <a:r>
              <a:rPr lang="en-US" sz="2400" dirty="0">
                <a:latin typeface="Garamond" panose="02020404030301010803" pitchFamily="18" charset="0"/>
              </a:rPr>
              <a:t> </a:t>
            </a:r>
            <a:r>
              <a:rPr lang="en-US" sz="2400" b="1" i="1" dirty="0">
                <a:latin typeface="Garamond" panose="02020404030301010803" pitchFamily="18" charset="0"/>
              </a:rPr>
              <a:t>What is the primary change in chromosome ploidy level that occurs during the process of meiosis?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From haploid (n) to diploid (2n)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From diploid (2n) to haploid (n)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From diploid (2n) to tetraploid (4n)</a:t>
            </a:r>
          </a:p>
          <a:p>
            <a:pPr marL="457200" indent="-457200">
              <a:lnSpc>
                <a:spcPct val="150000"/>
              </a:lnSpc>
              <a:buFont typeface="Arial"/>
              <a:buAutoNum type="alphaUcParenR"/>
            </a:pPr>
            <a:r>
              <a:rPr lang="en-US" sz="2400" dirty="0">
                <a:latin typeface="Garamond" panose="02020404030301010803" pitchFamily="18" charset="0"/>
              </a:rPr>
              <a:t>From haploid (n) to haploid (n)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70ED9-0D8B-9F8F-3E73-0193114D2922}"/>
              </a:ext>
            </a:extLst>
          </p:cNvPr>
          <p:cNvSpPr/>
          <p:nvPr/>
        </p:nvSpPr>
        <p:spPr>
          <a:xfrm>
            <a:off x="339326" y="2693850"/>
            <a:ext cx="4719691" cy="54399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66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Word"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7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6" dur="500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21" presetClass="entr" presetSubtype="1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11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6" presetClass="emph" presetSubtype="0" repeatCount="indefinite" accel="48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3" dur="500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/>
          <p:bldP spid="14" grpId="0" animBg="1"/>
          <p:bldP spid="2" grpId="0" animBg="1"/>
        </p:bldLst>
      </p:timing>
    </mc:Fallback>
  </mc:AlternateContent>
</p:sld>
</file>

<file path=ppt/theme/theme1.xml><?xml version="1.0" encoding="utf-8"?>
<a:theme xmlns:a="http://schemas.openxmlformats.org/drawingml/2006/main" name="5_Custom Design">
  <a:themeElements>
    <a:clrScheme name="UWG">
      <a:dk1>
        <a:srgbClr val="0033A1"/>
      </a:dk1>
      <a:lt1>
        <a:srgbClr val="FFFFFF"/>
      </a:lt1>
      <a:dk2>
        <a:srgbClr val="B0B7BC"/>
      </a:dk2>
      <a:lt2>
        <a:srgbClr val="D7D7D7"/>
      </a:lt2>
      <a:accent1>
        <a:srgbClr val="6BABE5"/>
      </a:accent1>
      <a:accent2>
        <a:srgbClr val="DB1A21"/>
      </a:accent2>
      <a:accent3>
        <a:srgbClr val="0033A1"/>
      </a:accent3>
      <a:accent4>
        <a:srgbClr val="53565A"/>
      </a:accent4>
      <a:accent5>
        <a:srgbClr val="96979F"/>
      </a:accent5>
      <a:accent6>
        <a:srgbClr val="BD1719"/>
      </a:accent6>
      <a:hlink>
        <a:srgbClr val="FFFFFF"/>
      </a:hlink>
      <a:folHlink>
        <a:srgbClr val="0033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2020">
      <a:dk1>
        <a:srgbClr val="474C55"/>
      </a:dk1>
      <a:lt1>
        <a:srgbClr val="FFFFFF"/>
      </a:lt1>
      <a:dk2>
        <a:srgbClr val="737778"/>
      </a:dk2>
      <a:lt2>
        <a:srgbClr val="D7D7D7"/>
      </a:lt2>
      <a:accent1>
        <a:srgbClr val="6BABE5"/>
      </a:accent1>
      <a:accent2>
        <a:srgbClr val="DB1A21"/>
      </a:accent2>
      <a:accent3>
        <a:srgbClr val="0033A1"/>
      </a:accent3>
      <a:accent4>
        <a:srgbClr val="53565A"/>
      </a:accent4>
      <a:accent5>
        <a:srgbClr val="96979F"/>
      </a:accent5>
      <a:accent6>
        <a:srgbClr val="BD1719"/>
      </a:accent6>
      <a:hlink>
        <a:srgbClr val="FFFFFF"/>
      </a:hlink>
      <a:folHlink>
        <a:srgbClr val="0033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35154</TotalTime>
  <Words>688</Words>
  <Application>Microsoft Office PowerPoint</Application>
  <PresentationFormat>Widescreen</PresentationFormat>
  <Paragraphs>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Garamond</vt:lpstr>
      <vt:lpstr>ADLaM Display</vt:lpstr>
      <vt:lpstr>Wingdings</vt:lpstr>
      <vt:lpstr>Tw Cen MT</vt:lpstr>
      <vt:lpstr>Bahnschrift Condensed</vt:lpstr>
      <vt:lpstr>Arial Narrow</vt:lpstr>
      <vt:lpstr>Aptos ExtraBold</vt:lpstr>
      <vt:lpstr>Calibri</vt:lpstr>
      <vt:lpstr>Arial</vt:lpstr>
      <vt:lpstr>5_Custom Design</vt:lpstr>
      <vt:lpstr>Custom Design</vt:lpstr>
      <vt:lpstr>Biology Lab 1107: Meiosis and sexual life cycle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 1111L</dc:title>
  <dc:creator>Alyson Chester</dc:creator>
  <cp:lastModifiedBy>Progress</cp:lastModifiedBy>
  <cp:revision>372</cp:revision>
  <dcterms:created xsi:type="dcterms:W3CDTF">2015-05-11T18:47:14Z</dcterms:created>
  <dcterms:modified xsi:type="dcterms:W3CDTF">2026-10-17T09:59:11Z</dcterms:modified>
</cp:coreProperties>
</file>